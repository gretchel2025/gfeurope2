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ec641627cd54db3" /><Relationship Type="http://schemas.openxmlformats.org/officeDocument/2006/relationships/extended-properties" Target="/docProps/app.xml" Id="R73b15df4584949e5" /><Relationship Type="http://schemas.openxmlformats.org/officeDocument/2006/relationships/officeDocument" Target="/ppt/presentation.xml" Id="R6034934ffd2641b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d73dfd5ff3641fa"/>
  </p:sldMasterIdLst>
  <p:notesMasterIdLst>
    <p:notesMasterId xmlns:r="http://schemas.openxmlformats.org/officeDocument/2006/relationships" r:id="R63ba7602b9284109"/>
  </p:notesMasterIdLst>
  <p:sldIdLst>
    <p:sldId xmlns:r="http://schemas.openxmlformats.org/officeDocument/2006/relationships" id="256" r:id="R5f198927d65444f6"/>
    <p:sldId xmlns:r="http://schemas.openxmlformats.org/officeDocument/2006/relationships" id="257" r:id="R70e79584730b45dc"/>
    <p:sldId xmlns:r="http://schemas.openxmlformats.org/officeDocument/2006/relationships" id="258" r:id="Rf9ff044144244230"/>
    <p:sldId xmlns:r="http://schemas.openxmlformats.org/officeDocument/2006/relationships" id="259" r:id="R7aafa20ce6f04393"/>
    <p:sldId xmlns:r="http://schemas.openxmlformats.org/officeDocument/2006/relationships" id="260" r:id="Rb0660bc89fae48b8"/>
    <p:sldId xmlns:r="http://schemas.openxmlformats.org/officeDocument/2006/relationships" id="261" r:id="R1c90d54b1db441d2"/>
    <p:sldId xmlns:r="http://schemas.openxmlformats.org/officeDocument/2006/relationships" id="262" r:id="R6b58f6e917af4bc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73dfd5ff3641fa" /><Relationship Type="http://schemas.openxmlformats.org/officeDocument/2006/relationships/theme" Target="/ppt/theme/theme1.xml" Id="R7e8171ac035c49cc" /><Relationship Type="http://schemas.openxmlformats.org/officeDocument/2006/relationships/notesMaster" Target="/ppt/notesMasters/notesMaster1.xml" Id="R63ba7602b9284109" /><Relationship Type="http://schemas.openxmlformats.org/officeDocument/2006/relationships/presProps" Target="/ppt/presProps.xml" Id="Rd3f024a5a97646ad" /><Relationship Type="http://schemas.openxmlformats.org/officeDocument/2006/relationships/viewProps" Target="/ppt/viewProps.xml" Id="R1406262c9621461c" /><Relationship Type="http://schemas.openxmlformats.org/officeDocument/2006/relationships/tableStyles" Target="/ppt/tableStyles.xml" Id="R017100e9acf64e0a" /><Relationship Type="http://schemas.openxmlformats.org/officeDocument/2006/relationships/slide" Target="/ppt/slides/slide1.xml" Id="R5f198927d65444f6" /><Relationship Type="http://schemas.openxmlformats.org/officeDocument/2006/relationships/slide" Target="/ppt/slides/slide2.xml" Id="R70e79584730b45dc" /><Relationship Type="http://schemas.openxmlformats.org/officeDocument/2006/relationships/slide" Target="/ppt/slides/slide3.xml" Id="Rf9ff044144244230" /><Relationship Type="http://schemas.openxmlformats.org/officeDocument/2006/relationships/slide" Target="/ppt/slides/slide4.xml" Id="R7aafa20ce6f04393" /><Relationship Type="http://schemas.openxmlformats.org/officeDocument/2006/relationships/slide" Target="/ppt/slides/slide5.xml" Id="Rb0660bc89fae48b8" /><Relationship Type="http://schemas.openxmlformats.org/officeDocument/2006/relationships/slide" Target="/ppt/slides/slide6.xml" Id="R1c90d54b1db441d2" /><Relationship Type="http://schemas.openxmlformats.org/officeDocument/2006/relationships/slide" Target="/ppt/slides/slide7.xml" Id="R6b58f6e917af4bc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886e068b81d046b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2b218c85dc84d57" /><Relationship Type="http://schemas.openxmlformats.org/officeDocument/2006/relationships/notesMaster" Target="/ppt/notesMasters/notesMaster1.xml" Id="R249b609458524f1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ef3863812a140da" /><Relationship Type="http://schemas.openxmlformats.org/officeDocument/2006/relationships/notesMaster" Target="/ppt/notesMasters/notesMaster1.xml" Id="R58f9960106384b5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0d093575ad14056" /><Relationship Type="http://schemas.openxmlformats.org/officeDocument/2006/relationships/notesMaster" Target="/ppt/notesMasters/notesMaster1.xml" Id="R088a9bb291ce4d3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811ec5ecf2249c7" /><Relationship Type="http://schemas.openxmlformats.org/officeDocument/2006/relationships/notesMaster" Target="/ppt/notesMasters/notesMaster1.xml" Id="Rfecc8e3f158e41e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775151d6c284d4d" /><Relationship Type="http://schemas.openxmlformats.org/officeDocument/2006/relationships/notesMaster" Target="/ppt/notesMasters/notesMaster1.xml" Id="Rf5b3fe46b6d6472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c3da130471042dd" /><Relationship Type="http://schemas.openxmlformats.org/officeDocument/2006/relationships/notesMaster" Target="/ppt/notesMasters/notesMaster1.xml" Id="R5bad7ca121af454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e07f1fb60dd4328" /><Relationship Type="http://schemas.openxmlformats.org/officeDocument/2006/relationships/notesMaster" Target="/ppt/notesMasters/notesMaster1.xml" Id="R8bb7dbb2203e484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b463f656ef400c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732049a235bf4a0b" /><Relationship Type="http://schemas.openxmlformats.org/officeDocument/2006/relationships/slideLayout" Target="/ppt/slideLayouts/slideLayout2.xml" Id="R3484a0b567aa4fa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484a0b567aa4fa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64f85de966c485d" /><Relationship Type="http://schemas.openxmlformats.org/officeDocument/2006/relationships/notesSlide" Target="/ppt/notesSlides/notesSlide1.xml" Id="Rc72c41a9ddd24d8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61580c3ffdf472d" /><Relationship Type="http://schemas.openxmlformats.org/officeDocument/2006/relationships/notesSlide" Target="/ppt/notesSlides/notesSlide2.xml" Id="Rcc3e648990af460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21580755f5c4755" /><Relationship Type="http://schemas.openxmlformats.org/officeDocument/2006/relationships/notesSlide" Target="/ppt/notesSlides/notesSlide3.xml" Id="R4468d8a79b0845e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3795ddf57a9480e" /><Relationship Type="http://schemas.openxmlformats.org/officeDocument/2006/relationships/notesSlide" Target="/ppt/notesSlides/notesSlide4.xml" Id="R9ac1d61ddc784ba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a10604f7ae94644" /><Relationship Type="http://schemas.openxmlformats.org/officeDocument/2006/relationships/notesSlide" Target="/ppt/notesSlides/notesSlide5.xml" Id="Rd4a5ca5a1c51462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483b46ca65b43b4" /><Relationship Type="http://schemas.openxmlformats.org/officeDocument/2006/relationships/notesSlide" Target="/ppt/notesSlides/notesSlide6.xml" Id="R625448a10887428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4a87d7267054d56" /><Relationship Type="http://schemas.openxmlformats.org/officeDocument/2006/relationships/notesSlide" Target="/ppt/notesSlides/notesSlide7.xml" Id="Rb65bcaa47aa44ce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3A9032E-21FD-4DA8-8CF3-031B5C7B8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7F3EE"/>
              </a:gs>
              <a:gs pos="100000">
                <a:srgbClr val="EFE8DC"/>
              </a:gs>
            </a:gsLst>
            <a:lin ang="10800000"/>
          </a:gra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4BAE78-6501-4DFF-97BB-1D27038FA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19100"/>
            <a:ext cx="7565136" cy="1600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A94E2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A94E28"/>
                </a:solidFill>
                <a:latin typeface="Aptos"/>
                <a:ea typeface="Aptos"/>
                <a:cs typeface="Aptos"/>
              </a:rPr>
              <a:t>Refactoring Showcase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9D1233-E086-4613-B46F-6FF5EA406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74370"/>
            <a:ext cx="7565136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821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82126"/>
                </a:solidFill>
                <a:latin typeface="Aptos Display"/>
                <a:ea typeface="Aptos Display"/>
                <a:cs typeface="Aptos Display"/>
              </a:rPr>
              <a:t>Making the Grand Feast app easier to change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A00373-5CBD-4C31-AB7B-3233B6ACA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12520"/>
            <a:ext cx="7565136" cy="3886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F6B73"/>
                </a:solidFill>
                <a:latin typeface="Aptos"/>
                <a:ea typeface="Aptos"/>
                <a:cs typeface="Aptos"/>
              </a:rPr>
              <a:t>A friendly walkthrough of what the codebase looked like before, what we improved, and what the finished structure gives us now.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5B3B99-0CCA-4729-9746-DB504923D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836" y="419100"/>
            <a:ext cx="3560064" cy="1291590"/>
          </a:xfrm>
          <a:prstGeom xmlns:a="http://schemas.openxmlformats.org/drawingml/2006/main" prst="roundRect">
            <a:avLst>
              <a:gd name="adj" fmla="val 13274"/>
            </a:avLst>
          </a:prstGeom>
          <a:solidFill xmlns:a="http://schemas.openxmlformats.org/drawingml/2006/main">
            <a:srgbClr val="24343A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09C76E-A3B6-4326-AFD0-68B90D7B4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4286" y="590550"/>
            <a:ext cx="3217164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What this deck covers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73A307-5CC1-4914-8D24-F1E973AF5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4286" y="86868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8C52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085A8E-414E-4ADA-866F-4C01B0D2D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3836" y="868680"/>
            <a:ext cx="3007614" cy="1600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FFFFFF"/>
                </a:solidFill>
                <a:latin typeface="Aptos"/>
                <a:ea typeface="Aptos"/>
                <a:cs typeface="Aptos"/>
              </a:rPr>
              <a:t>Where the old structure slowed us down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92E121-CA07-46FC-B0A6-F864A21F5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4286" y="11239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8C52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3E3F49-BE68-4094-A19E-7D0A474CE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3836" y="1123950"/>
            <a:ext cx="3007614" cy="1600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FFFFFF"/>
                </a:solidFill>
                <a:latin typeface="Aptos"/>
                <a:ea typeface="Aptos"/>
                <a:cs typeface="Aptos"/>
              </a:rPr>
              <a:t>The target architecture we aimed for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164E46-35CF-40EE-8374-18A8D5A37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4286" y="137922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8C52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A8806B-C71E-4C46-8C31-190F95F37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3836" y="1379220"/>
            <a:ext cx="3007614" cy="1600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FFFFFF"/>
                </a:solidFill>
                <a:latin typeface="Aptos"/>
                <a:ea typeface="Aptos"/>
                <a:cs typeface="Aptos"/>
              </a:rPr>
              <a:t>The phases we used to get there safely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B3F181-4B22-4200-B196-4DB56AD66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939290"/>
            <a:ext cx="5562600" cy="5526405"/>
          </a:xfrm>
          <a:prstGeom xmlns:a="http://schemas.openxmlformats.org/drawingml/2006/main" prst="roundRect">
            <a:avLst>
              <a:gd name="adj" fmla="val 3792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7D0C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209FF1-94D1-4A90-835B-F129F2E70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10740"/>
            <a:ext cx="5219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65D4B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C65D4B"/>
                </a:solidFill>
                <a:latin typeface="Aptos Display"/>
                <a:ea typeface="Aptos Display"/>
                <a:cs typeface="Aptos Display"/>
              </a:rPr>
              <a:t>Before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3DDB79-5288-49B6-A9EF-1F0D87D19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15540"/>
            <a:ext cx="5219700" cy="1485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975">
                <a:solidFill>
                  <a:srgbClr val="5F6B73"/>
                </a:solidFill>
                <a:latin typeface="Aptos"/>
                <a:ea typeface="Aptos"/>
                <a:cs typeface="Aptos"/>
              </a:rPr>
              <a:t>Useful logic existed, but responsibilities bled across layers.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AC3FB7-B948-481E-80CB-EBB488FE5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40330"/>
            <a:ext cx="5219700" cy="657225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BE3DD"/>
          </a:solidFill>
          <a:ln xmlns:a="http://schemas.openxmlformats.org/drawingml/2006/main" w="9525">
            <a:solidFill>
              <a:srgbClr val="C65D4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DCC677-B23D-4932-99FF-2FE8AAA0E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73680"/>
            <a:ext cx="4953000" cy="2057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8212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82126"/>
                </a:solidFill>
                <a:latin typeface="Aptos Display"/>
                <a:ea typeface="Aptos Display"/>
                <a:cs typeface="Aptos Display"/>
              </a:rPr>
              <a:t>routes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1B2668-9368-4193-942A-EE5D13572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7045"/>
            <a:ext cx="4953000" cy="137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82126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182126"/>
                </a:solidFill>
                <a:latin typeface="Aptos"/>
                <a:ea typeface="Aptos"/>
                <a:cs typeface="Aptos"/>
              </a:rPr>
              <a:t>UI + orchestration + HTTP decisions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63838A-7BED-4F6D-9930-C57996964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373755"/>
            <a:ext cx="381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65D4B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DC731C-C2C4-4870-B946-0CCB6E179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83305"/>
            <a:ext cx="5219700" cy="657225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6D8CF"/>
          </a:solidFill>
          <a:ln xmlns:a="http://schemas.openxmlformats.org/drawingml/2006/main" w="9525">
            <a:solidFill>
              <a:srgbClr val="C65D4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545398-CECB-42EE-9066-21E384C3B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6655"/>
            <a:ext cx="4953000" cy="2057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8212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82126"/>
                </a:solidFill>
                <a:latin typeface="Aptos Display"/>
                <a:ea typeface="Aptos Display"/>
                <a:cs typeface="Aptos Display"/>
              </a:rPr>
              <a:t>workflows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2FA66B-1F68-4F8E-A3F1-1B2C7DF11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70020"/>
            <a:ext cx="4953000" cy="137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82126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182126"/>
                </a:solidFill>
                <a:latin typeface="Aptos"/>
                <a:ea typeface="Aptos"/>
                <a:cs typeface="Aptos"/>
              </a:rPr>
              <a:t>business rules + SvelteKit errors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524392-3803-4F9F-9BCF-BD03994AF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316730"/>
            <a:ext cx="381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65D4B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D167A1-5F4E-45A3-A1E6-F967C1CA4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26280"/>
            <a:ext cx="5219700" cy="657225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5E6D7"/>
          </a:solidFill>
          <a:ln xmlns:a="http://schemas.openxmlformats.org/drawingml/2006/main" w="9525">
            <a:solidFill>
              <a:srgbClr val="C65D4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41A0704-FE35-4C0B-AC9C-D8832D2FD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59630"/>
            <a:ext cx="4953000" cy="2057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8212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82126"/>
                </a:solidFill>
                <a:latin typeface="Aptos Display"/>
                <a:ea typeface="Aptos Display"/>
                <a:cs typeface="Aptos Display"/>
              </a:rPr>
              <a:t>data_sources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9595B6E-6F52-4F54-8D2A-14A4191B2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12995"/>
            <a:ext cx="4953000" cy="137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82126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182126"/>
                </a:solidFill>
                <a:latin typeface="Aptos"/>
                <a:ea typeface="Aptos"/>
                <a:cs typeface="Aptos"/>
              </a:rPr>
              <a:t>Mongo details mixed into app logic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DD7B34F-8FDF-47E6-85C0-49EF42E81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5259705"/>
            <a:ext cx="381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65D4B"/>
          </a:solidFill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F76B6E8-E3B8-48D1-A28F-F5AFB3CBC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69255"/>
            <a:ext cx="5219700" cy="657225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8EEE6"/>
          </a:solidFill>
          <a:ln xmlns:a="http://schemas.openxmlformats.org/drawingml/2006/main" w="9525">
            <a:solidFill>
              <a:srgbClr val="C65D4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05AE496-E5F6-438A-93B4-72FB463DD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02605"/>
            <a:ext cx="4953000" cy="2057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8212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82126"/>
                </a:solidFill>
                <a:latin typeface="Aptos Display"/>
                <a:ea typeface="Aptos Display"/>
                <a:cs typeface="Aptos Display"/>
              </a:rPr>
              <a:t>external_services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CFA81A4-A147-4C34-91C8-37BB08C22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55970"/>
            <a:ext cx="4953000" cy="137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82126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182126"/>
                </a:solidFill>
                <a:latin typeface="Aptos"/>
                <a:ea typeface="Aptos"/>
                <a:cs typeface="Aptos"/>
              </a:rPr>
              <a:t>email / cloudinary / logging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6D62918-C20D-4D95-BB41-99F05BC9F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02680"/>
            <a:ext cx="5219700" cy="1485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8212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82126"/>
                </a:solidFill>
                <a:latin typeface="Aptos"/>
                <a:ea typeface="Aptos"/>
                <a:cs typeface="Aptos"/>
              </a:rPr>
              <a:t>Harder to know where new code should live.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2E271ED-05BE-4D20-B6B9-DDA004340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939290"/>
            <a:ext cx="5562600" cy="5526405"/>
          </a:xfrm>
          <a:prstGeom xmlns:a="http://schemas.openxmlformats.org/drawingml/2006/main" prst="roundRect">
            <a:avLst>
              <a:gd name="adj" fmla="val 3792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7D0C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9FD2B79-11C3-405A-8852-04455084E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10740"/>
            <a:ext cx="5219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B7F6A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4B7F6A"/>
                </a:solidFill>
                <a:latin typeface="Aptos Display"/>
                <a:ea typeface="Aptos Display"/>
                <a:cs typeface="Aptos Display"/>
              </a:rPr>
              <a:t>After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CAF804A-A304-40E7-9928-2732049A9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15540"/>
            <a:ext cx="5219700" cy="1485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975">
                <a:solidFill>
                  <a:srgbClr val="5F6B73"/>
                </a:solidFill>
                <a:latin typeface="Aptos"/>
                <a:ea typeface="Aptos"/>
                <a:cs typeface="Aptos"/>
              </a:rPr>
              <a:t>Each layer has a clearer job and a cleaner path for change.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1EE7CFE-5433-4FC7-91D3-148948A0F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40330"/>
            <a:ext cx="5219700" cy="657225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E4F1EA"/>
          </a:solidFill>
          <a:ln xmlns:a="http://schemas.openxmlformats.org/drawingml/2006/main" w="9525">
            <a:solidFill>
              <a:srgbClr val="4B7F6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6363ECD-B90E-4B95-BC9C-C647CDA38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773680"/>
            <a:ext cx="4953000" cy="2057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8212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82126"/>
                </a:solidFill>
                <a:latin typeface="Aptos Display"/>
                <a:ea typeface="Aptos Display"/>
                <a:cs typeface="Aptos Display"/>
              </a:rPr>
              <a:t>routes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2D885F6-CDD1-4232-8374-76F0A5255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027045"/>
            <a:ext cx="4953000" cy="137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82126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182126"/>
                </a:solidFill>
                <a:latin typeface="Aptos"/>
                <a:ea typeface="Aptos"/>
                <a:cs typeface="Aptos"/>
              </a:rPr>
              <a:t>thin web adapters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C05AEEB-E07E-40F1-AE35-EDFF0694C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373755"/>
            <a:ext cx="381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B7F6A"/>
          </a:solidFill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4BF288B-2C0B-4646-ADEC-898760572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583305"/>
            <a:ext cx="5219700" cy="657225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DCEFEA"/>
          </a:solidFill>
          <a:ln xmlns:a="http://schemas.openxmlformats.org/drawingml/2006/main" w="9525">
            <a:solidFill>
              <a:srgbClr val="4B7F6A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063DCED-2B3D-4EF7-B2F5-71CE77F47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716655"/>
            <a:ext cx="4953000" cy="2057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8212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82126"/>
                </a:solidFill>
                <a:latin typeface="Aptos Display"/>
                <a:ea typeface="Aptos Display"/>
                <a:cs typeface="Aptos Display"/>
              </a:rPr>
              <a:t>server/http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CD51E11-7979-46BF-B43B-BCDE53855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970020"/>
            <a:ext cx="4953000" cy="137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82126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182126"/>
                </a:solidFill>
                <a:latin typeface="Aptos"/>
                <a:ea typeface="Aptos"/>
                <a:cs typeface="Aptos"/>
              </a:rPr>
              <a:t>forms, guards, error mapping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C451992-15A0-45C9-9758-044A5AABC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316730"/>
            <a:ext cx="381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B7F6A"/>
          </a:solidFill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44AB954-88B4-49CA-93E2-ECD4B3E3A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526280"/>
            <a:ext cx="5219700" cy="657225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D6EAF3"/>
          </a:solidFill>
          <a:ln xmlns:a="http://schemas.openxmlformats.org/drawingml/2006/main" w="9525">
            <a:solidFill>
              <a:srgbClr val="4B7F6A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EEE111F-63EA-480C-A2F9-F87B1653C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659630"/>
            <a:ext cx="4953000" cy="2057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8212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82126"/>
                </a:solidFill>
                <a:latin typeface="Aptos Display"/>
                <a:ea typeface="Aptos Display"/>
                <a:cs typeface="Aptos Display"/>
              </a:rPr>
              <a:t>application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386CD8C-E25F-46CB-B341-84E5E7A71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912995"/>
            <a:ext cx="4953000" cy="137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82126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182126"/>
                </a:solidFill>
                <a:latin typeface="Aptos"/>
                <a:ea typeface="Aptos"/>
                <a:cs typeface="Aptos"/>
              </a:rPr>
              <a:t>services + ports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EF0A135-A306-4993-A6E0-149D9D28C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5259705"/>
            <a:ext cx="381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B7F6A"/>
          </a:solidFill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1273E09-EBCA-4AF4-8227-1372EDF22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469255"/>
            <a:ext cx="5219700" cy="657225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EAE8F6"/>
          </a:solidFill>
          <a:ln xmlns:a="http://schemas.openxmlformats.org/drawingml/2006/main" w="9525">
            <a:solidFill>
              <a:srgbClr val="4B7F6A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95A2949-891F-45AE-B243-7F7B91C1E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602605"/>
            <a:ext cx="4953000" cy="2057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8212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82126"/>
                </a:solidFill>
                <a:latin typeface="Aptos Display"/>
                <a:ea typeface="Aptos Display"/>
                <a:cs typeface="Aptos Display"/>
              </a:rPr>
              <a:t>domain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4B424EC-56A4-48C3-A473-1B42A0916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855970"/>
            <a:ext cx="4953000" cy="137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82126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182126"/>
                </a:solidFill>
                <a:latin typeface="Aptos"/>
                <a:ea typeface="Aptos"/>
                <a:cs typeface="Aptos"/>
              </a:rPr>
              <a:t>core models and rules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25A9F9E-354E-44F8-A547-ACA95CF41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6202680"/>
            <a:ext cx="381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B7F6A"/>
          </a:solidFill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F996A7E-A6DD-4EEF-A62E-98A46B97F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412230"/>
            <a:ext cx="5219700" cy="657225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0EEE8"/>
          </a:solidFill>
          <a:ln xmlns:a="http://schemas.openxmlformats.org/drawingml/2006/main" w="9525">
            <a:solidFill>
              <a:srgbClr val="4B7F6A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A9B5793-36EA-4C98-A5E1-9EDD2C06D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6545580"/>
            <a:ext cx="4953000" cy="2057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8212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82126"/>
                </a:solidFill>
                <a:latin typeface="Aptos Display"/>
                <a:ea typeface="Aptos Display"/>
                <a:cs typeface="Aptos Display"/>
              </a:rPr>
              <a:t>infrastructure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324C8F2-19A3-4E68-BC76-B91EC13B7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6798945"/>
            <a:ext cx="4953000" cy="137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82126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182126"/>
                </a:solidFill>
                <a:latin typeface="Aptos"/>
                <a:ea typeface="Aptos"/>
                <a:cs typeface="Aptos"/>
              </a:rPr>
              <a:t>mongo, auth, bootstrap, media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88278F1-28FF-40D3-BF8B-A437FC719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7145655"/>
            <a:ext cx="5219700" cy="1485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8212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82126"/>
                </a:solidFill>
                <a:latin typeface="Aptos"/>
                <a:ea typeface="Aptos"/>
                <a:cs typeface="Aptos"/>
              </a:rPr>
              <a:t>Easier for people and Codex to extend safely.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088BCDE-A9E7-4156-A965-18C669B9D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132070"/>
            <a:ext cx="3683000" cy="868680"/>
          </a:xfrm>
          <a:prstGeom xmlns:a="http://schemas.openxmlformats.org/drawingml/2006/main" prst="roundRect">
            <a:avLst>
              <a:gd name="adj" fmla="val 17544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7D0C6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C786DF2-C470-457A-BB77-0ADD43695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03520"/>
            <a:ext cx="3340100" cy="320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2126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82126"/>
                </a:solidFill>
                <a:latin typeface="Aptos Display"/>
                <a:ea typeface="Aptos Display"/>
                <a:cs typeface="Aptos Display"/>
              </a:rPr>
              <a:t>96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0F7DEDA-C871-49F2-BE34-B0538DD13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80710"/>
            <a:ext cx="3340100" cy="1485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975">
                <a:solidFill>
                  <a:srgbClr val="5F6B73"/>
                </a:solidFill>
                <a:latin typeface="Aptos"/>
                <a:ea typeface="Aptos"/>
                <a:cs typeface="Aptos"/>
              </a:rPr>
              <a:t>files touched in the main refactor commit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FE8E1C5-7BB3-4A0C-9E05-0B9DFA741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4500" y="5132070"/>
            <a:ext cx="3683000" cy="868680"/>
          </a:xfrm>
          <a:prstGeom xmlns:a="http://schemas.openxmlformats.org/drawingml/2006/main" prst="roundRect">
            <a:avLst>
              <a:gd name="adj" fmla="val 17544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7D0C6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ADB3482-F98A-48D6-BDCC-D4067A82E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5950" y="5303520"/>
            <a:ext cx="3340100" cy="320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2126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82126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02DB7F8-8335-4599-B468-D5C9AF36B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5950" y="5680710"/>
            <a:ext cx="3340100" cy="1485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975">
                <a:solidFill>
                  <a:srgbClr val="5F6B73"/>
                </a:solidFill>
                <a:latin typeface="Aptos"/>
                <a:ea typeface="Aptos"/>
                <a:cs typeface="Aptos"/>
              </a:rPr>
              <a:t>clear architecture layers added to the app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45E4D82-DD77-435E-929C-43657B85B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9900" y="5132070"/>
            <a:ext cx="3683000" cy="868680"/>
          </a:xfrm>
          <a:prstGeom xmlns:a="http://schemas.openxmlformats.org/drawingml/2006/main" prst="roundRect">
            <a:avLst>
              <a:gd name="adj" fmla="val 17544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7D0C6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8A1B204-F2E0-4FD4-A504-DB686FE05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1350" y="5303520"/>
            <a:ext cx="3340100" cy="320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2126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82126"/>
                </a:solidFill>
                <a:latin typeface="Aptos Display"/>
                <a:ea typeface="Aptos Display"/>
                <a:cs typeface="Aptos Display"/>
              </a:rPr>
              <a:t>0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07CB25F-4F34-4580-920A-B516D232E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1350" y="5680710"/>
            <a:ext cx="3340100" cy="1485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975">
                <a:solidFill>
                  <a:srgbClr val="5F6B73"/>
                </a:solidFill>
                <a:latin typeface="Aptos"/>
                <a:ea typeface="Aptos"/>
                <a:cs typeface="Aptos"/>
              </a:rPr>
              <a:t>Svelte check errors after the cleanup pass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D7CD67E-2975-4EDE-AB9E-0BA8F7A90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172200"/>
            <a:ext cx="113538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975">
                <a:solidFill>
                  <a:srgbClr val="5F6B73"/>
                </a:solidFill>
                <a:latin typeface="Aptos"/>
                <a:ea typeface="Aptos"/>
                <a:cs typeface="Aptos"/>
              </a:rPr>
              <a:t>Grand Feast refactor showcase | before, after, and how we moved</a:t>
            </a:r>
          </a:p>
        </p:txBody>
      </p:sp>
    </p:spTree>
    <p:extLst>
      <p:ext uri="{BB962C8B-B14F-4D97-AF65-F5344CB8AC3E}">
        <p14:creationId xmlns:p14="http://schemas.microsoft.com/office/powerpoint/2010/main" val="7838897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98DD008-6652-444E-8B2E-D56F4AF97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7F3EE"/>
              </a:gs>
              <a:gs pos="100000">
                <a:srgbClr val="EFE8DC"/>
              </a:gs>
            </a:gsLst>
            <a:lin ang="10800000"/>
          </a:gra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E0B84B-DA6B-4560-877C-4056B7D14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19100"/>
            <a:ext cx="7565136" cy="1600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A94E2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A94E28"/>
                </a:solidFill>
                <a:latin typeface="Aptos"/>
                <a:ea typeface="Aptos"/>
                <a:cs typeface="Aptos"/>
              </a:rPr>
              <a:t>Before The Refactor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CBEF1F-01A6-4968-8239-89F269E61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74370"/>
            <a:ext cx="7565136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821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82126"/>
                </a:solidFill>
                <a:latin typeface="Aptos Display"/>
                <a:ea typeface="Aptos Display"/>
                <a:cs typeface="Aptos Display"/>
              </a:rPr>
              <a:t>The code worked, but the shape of the code kept slowing us down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05CEA0-D798-4374-AD2E-A39A168C8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55420"/>
            <a:ext cx="7565136" cy="3886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F6B73"/>
                </a:solidFill>
                <a:latin typeface="Aptos"/>
                <a:ea typeface="Aptos"/>
                <a:cs typeface="Aptos"/>
              </a:rPr>
              <a:t>None of these issues were dramatic on their own. Together, they made changes harder to place, test, and reason about.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0CD02A-3A88-43DF-A027-B874A1579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836" y="419100"/>
            <a:ext cx="3560064" cy="1451610"/>
          </a:xfrm>
          <a:prstGeom xmlns:a="http://schemas.openxmlformats.org/drawingml/2006/main" prst="roundRect">
            <a:avLst>
              <a:gd name="adj" fmla="val 11811"/>
            </a:avLst>
          </a:prstGeom>
          <a:solidFill xmlns:a="http://schemas.openxmlformats.org/drawingml/2006/main">
            <a:srgbClr val="24343A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638C35-1E2C-449F-8828-CC03D6747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4286" y="590550"/>
            <a:ext cx="3217164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Typical developer friction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075DD2-E00F-414D-AA71-D3B72869D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4286" y="86868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8C52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7B9783-F53D-4E21-AFF0-601D7DC13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3836" y="868680"/>
            <a:ext cx="3007614" cy="1600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FFFFFF"/>
                </a:solidFill>
                <a:latin typeface="Aptos"/>
                <a:ea typeface="Aptos"/>
                <a:cs typeface="Aptos"/>
              </a:rPr>
              <a:t>Where should a new feature actually live?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45ACD3-03F4-4481-94D9-BDD4C618A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4286" y="11239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8C52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95EBA5-5151-42D2-A385-3B677333D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3836" y="1123950"/>
            <a:ext cx="3007614" cy="1600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FFFFFF"/>
                </a:solidFill>
                <a:latin typeface="Aptos"/>
                <a:ea typeface="Aptos"/>
                <a:cs typeface="Aptos"/>
              </a:rPr>
              <a:t>Is this a business rule or a route concern?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F21303-073F-4DC8-B5BE-E2B1B8686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4286" y="137922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8C52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0BFE0F-AA2A-4259-BC65-4D1BFE74D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3836" y="1379220"/>
            <a:ext cx="3007614" cy="320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FFFFFF"/>
                </a:solidFill>
                <a:latin typeface="Aptos"/>
                <a:ea typeface="Aptos"/>
                <a:cs typeface="Aptos"/>
              </a:rPr>
              <a:t>Will changing this break setup, auth, or email side effects?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EE42C6-69CF-4E14-9A9D-A8E6D6625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9310"/>
            <a:ext cx="4457700" cy="3901440"/>
          </a:xfrm>
          <a:prstGeom xmlns:a="http://schemas.openxmlformats.org/drawingml/2006/main" prst="roundRect">
            <a:avLst>
              <a:gd name="adj" fmla="val 4395"/>
            </a:avLst>
          </a:prstGeom>
          <a:solidFill xmlns:a="http://schemas.openxmlformats.org/drawingml/2006/main">
            <a:srgbClr val="24343A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1C64C4-91AC-4BA0-B27C-3625A0DEB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70760"/>
            <a:ext cx="411480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Symptoms we kept bumping into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BC50D9-74A7-465E-BA8B-2C5C7EB4C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4889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1B64F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5FFC40-B7DA-46F4-BADE-5D6CEF353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48890"/>
            <a:ext cx="3905250" cy="320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FFFFFF"/>
                </a:solidFill>
                <a:latin typeface="Aptos"/>
                <a:ea typeface="Aptos"/>
                <a:cs typeface="Aptos"/>
              </a:rPr>
              <a:t>Routes, workflows, and data access all made important decisions.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4D7606-1937-40E8-B2F3-8A80EBA3C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6418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1B64F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557771-E27F-4F9B-B1AA-D76800109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4180"/>
            <a:ext cx="3905250" cy="1600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FFFFFF"/>
                </a:solidFill>
                <a:latin typeface="Aptos"/>
                <a:ea typeface="Aptos"/>
                <a:cs typeface="Aptos"/>
              </a:rPr>
              <a:t>SvelteKit-specific errors leaked deep into business logic.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75A318-9AAA-4AA7-9632-138A3737B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194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1B64F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A2B83A-E9C0-4F06-A315-B3C273E5D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19450"/>
            <a:ext cx="3905250" cy="1600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FFFFFF"/>
                </a:solidFill>
                <a:latin typeface="Aptos"/>
                <a:ea typeface="Aptos"/>
                <a:cs typeface="Aptos"/>
              </a:rPr>
              <a:t>Type definitions and Mongo schemas had drifted apart.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B8E639-0C22-4A36-AFA8-13B8F6981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7472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1B64F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FE424D-8E33-4E2A-B51D-C53091AC9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74720"/>
            <a:ext cx="3905250" cy="1600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FFFFFF"/>
                </a:solidFill>
                <a:latin typeface="Aptos"/>
                <a:ea typeface="Aptos"/>
                <a:cs typeface="Aptos"/>
              </a:rPr>
              <a:t>Debug, init, and testing routes cluttered the real app surface.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DA3A90-2E9F-4004-B465-FCE790796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2999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1B64F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13B2A1-FD29-41A1-B39D-E02787472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29990"/>
            <a:ext cx="3905250" cy="320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FFFFFF"/>
                </a:solidFill>
                <a:latin typeface="Aptos"/>
                <a:ea typeface="Aptos"/>
                <a:cs typeface="Aptos"/>
              </a:rPr>
              <a:t>Local development depended too much on production-ish assumptions.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B08E09E-3DD0-4D0D-B94E-8C19CC871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099310"/>
            <a:ext cx="6686550" cy="3901440"/>
          </a:xfrm>
          <a:prstGeom xmlns:a="http://schemas.openxmlformats.org/drawingml/2006/main" prst="roundRect">
            <a:avLst>
              <a:gd name="adj" fmla="val 5371"/>
            </a:avLst>
          </a:prstGeom>
          <a:solidFill xmlns:a="http://schemas.openxmlformats.org/drawingml/2006/main">
            <a:srgbClr val="FFFDF9"/>
          </a:solidFill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722EE9E-01A5-418E-9616-DECFA73C8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270760"/>
            <a:ext cx="6343650" cy="14287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BEEE8"/>
          </a:solidFill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123EA56-8262-406F-970F-987A556B3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423160"/>
            <a:ext cx="60388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65D4B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C65D4B"/>
                </a:solidFill>
                <a:latin typeface="Aptos Display"/>
                <a:ea typeface="Aptos Display"/>
                <a:cs typeface="Aptos Display"/>
              </a:rPr>
              <a:t>Illustration: one change touching too many places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10DEFFB-0B0E-4DC8-879D-68B000DE7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689860"/>
            <a:ext cx="1708150" cy="85725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F8DDD5"/>
          </a:solidFill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CA2A6F7-8D1C-4FEF-930D-D49427953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804160"/>
            <a:ext cx="1479550" cy="1600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82126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182126"/>
                </a:solidFill>
                <a:latin typeface="Aptos Display"/>
                <a:ea typeface="Aptos Display"/>
                <a:cs typeface="Aptos Display"/>
              </a:rPr>
              <a:t>Route action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16227E9-943C-4217-A11D-CE2B3C621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6450" y="2689860"/>
            <a:ext cx="3810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65D4B"/>
          </a:solidFill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416209E-8F19-4AA0-8510-14E5B5896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5550" y="2689860"/>
            <a:ext cx="1708150" cy="85725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F5E7DA"/>
          </a:solidFill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0F68418-01CE-4B37-B622-E315C5591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2804160"/>
            <a:ext cx="1479550" cy="320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82126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182126"/>
                </a:solidFill>
                <a:latin typeface="Aptos Display"/>
                <a:ea typeface="Aptos Display"/>
                <a:cs typeface="Aptos Display"/>
              </a:rPr>
              <a:t>Workflow + HTTP errors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35EAE25-EFE9-4FC2-A8D8-65F82447F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1800" y="2689860"/>
            <a:ext cx="3810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65D4B"/>
          </a:solidFill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48BAE34-29CD-4687-882F-8D95A5F2A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0900" y="2689860"/>
            <a:ext cx="1708150" cy="85725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F8EEE6"/>
          </a:solidFill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8E0C953-39DA-4DD2-B543-05AC0CC4F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5200" y="2804160"/>
            <a:ext cx="1479550" cy="320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82126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182126"/>
                </a:solidFill>
                <a:latin typeface="Aptos Display"/>
                <a:ea typeface="Aptos Display"/>
                <a:cs typeface="Aptos Display"/>
              </a:rPr>
              <a:t>Mongo + email + media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07992F0-4078-436C-B1CC-DBE87E904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870960"/>
            <a:ext cx="2025650" cy="12954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7D0C6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222D5DB-8D14-4EE4-91E5-83F7A1F83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02336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65D4B"/>
          </a:solidFill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703D430-2C01-4FFE-BF50-637C79786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023360"/>
            <a:ext cx="1511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8212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82126"/>
                </a:solidFill>
                <a:latin typeface="Aptos Display"/>
                <a:ea typeface="Aptos Display"/>
                <a:cs typeface="Aptos Display"/>
              </a:rPr>
              <a:t>Blurry ownership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67354A5-5287-4CD3-9EA4-5A9805639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271010"/>
            <a:ext cx="17208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975">
                <a:solidFill>
                  <a:srgbClr val="5F6B73"/>
                </a:solidFill>
                <a:latin typeface="Aptos"/>
                <a:ea typeface="Aptos"/>
                <a:cs typeface="Aptos"/>
              </a:rPr>
              <a:t>Feature logic was spread across routes, workflows, and persistence code, so every change began with a scavenger hunt.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8A26DA6-5BEB-4BE6-AAED-55C459847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6800" y="3870960"/>
            <a:ext cx="2025650" cy="12954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7D0C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43AA92F-BE2F-458F-8DCA-E5605CE44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9200" y="402336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1B64F"/>
          </a:solidFill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2610DE9-C703-4AFA-B91E-65D20811F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8750" y="4023360"/>
            <a:ext cx="1511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8212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82126"/>
                </a:solidFill>
                <a:latin typeface="Aptos Display"/>
                <a:ea typeface="Aptos Display"/>
                <a:cs typeface="Aptos Display"/>
              </a:rPr>
              <a:t>Framework leakage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A85C905-0CEB-4A86-966F-E979AE240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9200" y="4271010"/>
            <a:ext cx="1720850" cy="5943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975">
                <a:solidFill>
                  <a:srgbClr val="5F6B73"/>
                </a:solidFill>
                <a:latin typeface="Aptos"/>
                <a:ea typeface="Aptos"/>
                <a:cs typeface="Aptos"/>
              </a:rPr>
              <a:t>Business services knew about SvelteKit error handling, which made them harder to test and harder to reuse cleanly.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5F0D4F7-895D-44C2-9209-A2CB76E97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5800" y="3870960"/>
            <a:ext cx="2025650" cy="12954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7D0C6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8F4DA77-8929-436E-9C89-D1200F5E9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8200" y="402336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E6FAE"/>
          </a:solidFill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0317337-A14C-42E5-8312-A02CB7082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7750" y="4023360"/>
            <a:ext cx="1511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8212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82126"/>
                </a:solidFill>
                <a:latin typeface="Aptos Display"/>
                <a:ea typeface="Aptos Display"/>
                <a:cs typeface="Aptos Display"/>
              </a:rPr>
              <a:t>Infra coupling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7F2B306-B3C9-41B3-AFB6-2182E76C9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8200" y="4271010"/>
            <a:ext cx="1720850" cy="5943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975">
                <a:solidFill>
                  <a:srgbClr val="5F6B73"/>
                </a:solidFill>
                <a:latin typeface="Aptos"/>
                <a:ea typeface="Aptos"/>
                <a:cs typeface="Aptos"/>
              </a:rPr>
              <a:t>Email, Cloudinary, QR generation, auth, and bootstrap concerns sat too close to feature code.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CA912FE-B5FB-416D-BFEF-D2135FFE9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166360"/>
            <a:ext cx="2025650" cy="12954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7D0C6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0735482-5B31-40D0-9418-4BB9D7EA0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31876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65D4B"/>
          </a:solidFill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A0ECF26-2BDB-4871-ABB7-020AC2861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318760"/>
            <a:ext cx="1511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8212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82126"/>
                </a:solidFill>
                <a:latin typeface="Aptos Display"/>
                <a:ea typeface="Aptos Display"/>
                <a:cs typeface="Aptos Display"/>
              </a:rPr>
              <a:t>Type drift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4E45B17-8DE3-4228-9D94-95169C0B8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566410"/>
            <a:ext cx="17208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975">
                <a:solidFill>
                  <a:srgbClr val="5F6B73"/>
                </a:solidFill>
                <a:latin typeface="Aptos"/>
                <a:ea typeface="Aptos"/>
                <a:cs typeface="Aptos"/>
              </a:rPr>
              <a:t>Domain types and Mongo schemas disagreed in a few important places, which increased mental overhead and hidden bugs.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FD0B377-8B3A-4CEB-9973-71C4677B4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6800" y="5166360"/>
            <a:ext cx="2025650" cy="12954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7D0C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6CD476C-56C2-4896-B32E-4E5CE0F86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9200" y="531876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1B64F"/>
          </a:solidFill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D9739A9-54C0-4BEC-BD97-71B2A2A85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8750" y="5318760"/>
            <a:ext cx="1511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8212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82126"/>
                </a:solidFill>
                <a:latin typeface="Aptos Display"/>
                <a:ea typeface="Aptos Display"/>
                <a:cs typeface="Aptos Display"/>
              </a:rPr>
              <a:t>Discovery noise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E1D50E8-4134-4ABA-964D-9BA860A41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9200" y="5566410"/>
            <a:ext cx="1720850" cy="5943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975">
                <a:solidFill>
                  <a:srgbClr val="5F6B73"/>
                </a:solidFill>
                <a:latin typeface="Aptos"/>
                <a:ea typeface="Aptos"/>
                <a:cs typeface="Aptos"/>
              </a:rPr>
              <a:t>Old testing and debug routes looked real enough to distract people and search tools during implementation work.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B5652AE-A5A7-4DB6-817A-B7B4BB18F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5800" y="5166360"/>
            <a:ext cx="2025650" cy="12954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7D0C6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3974B7E-851D-4EA0-B739-693292CDD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8200" y="531876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E6FAE"/>
          </a:solidFill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7CDD68D-6CA6-4C83-B8D2-C00D6EC2E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7750" y="5318760"/>
            <a:ext cx="1511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8212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82126"/>
                </a:solidFill>
                <a:latin typeface="Aptos Display"/>
                <a:ea typeface="Aptos Display"/>
                <a:cs typeface="Aptos Display"/>
              </a:rPr>
              <a:t>Fragile local setup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C91CCAA-663C-465B-8069-D960630BF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8200" y="5566410"/>
            <a:ext cx="17208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975">
                <a:solidFill>
                  <a:srgbClr val="5F6B73"/>
                </a:solidFill>
                <a:latin typeface="Aptos"/>
                <a:ea typeface="Aptos"/>
                <a:cs typeface="Aptos"/>
              </a:rPr>
              <a:t>The app assumed too much about remote services and non-empty data, so local onboarding was rougher than it needed to be.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8F12C3C-E530-4B06-95BD-8D1C1F3C1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172200"/>
            <a:ext cx="113538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975">
                <a:solidFill>
                  <a:srgbClr val="5F6B73"/>
                </a:solidFill>
                <a:latin typeface="Aptos"/>
                <a:ea typeface="Aptos"/>
                <a:cs typeface="Aptos"/>
              </a:rPr>
              <a:t>Why the old structure was getting expensive to change</a:t>
            </a:r>
          </a:p>
        </p:txBody>
      </p:sp>
    </p:spTree>
    <p:extLst>
      <p:ext uri="{BB962C8B-B14F-4D97-AF65-F5344CB8AC3E}">
        <p14:creationId xmlns:p14="http://schemas.microsoft.com/office/powerpoint/2010/main" val="179867189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4943455-C8A9-47B2-8F1C-16248B257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7F3EE"/>
              </a:gs>
              <a:gs pos="100000">
                <a:srgbClr val="EFE8DC"/>
              </a:gs>
            </a:gsLst>
            <a:lin ang="10800000"/>
          </a:gra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DB443B-0371-47CF-8062-B3DE2CD71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19100"/>
            <a:ext cx="7565136" cy="1600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A94E2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A94E28"/>
                </a:solidFill>
                <a:latin typeface="Aptos"/>
                <a:ea typeface="Aptos"/>
                <a:cs typeface="Aptos"/>
              </a:rPr>
              <a:t>Proposed Solution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123ADE-B3A6-4526-8B66-507BD04D6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74370"/>
            <a:ext cx="7565136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821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82126"/>
                </a:solidFill>
                <a:latin typeface="Aptos Display"/>
                <a:ea typeface="Aptos Display"/>
                <a:cs typeface="Aptos Display"/>
              </a:rPr>
              <a:t>Refactor toward explicit layers, explicit seams, and smaller responsibilities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B43D5E-00B6-4511-8340-CF3C2DC6A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55420"/>
            <a:ext cx="7565136" cy="3886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F6B73"/>
                </a:solidFill>
                <a:latin typeface="Aptos"/>
                <a:ea typeface="Aptos"/>
                <a:cs typeface="Aptos"/>
              </a:rPr>
              <a:t>The goal was not to make the app abstract for the sake of it. The goal was to make the next feature easier to build safely.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2EE54D-AACA-43C0-BDF7-C4317DACC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836" y="419100"/>
            <a:ext cx="3560064" cy="17716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24343A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CBA0E7-76E8-4506-8035-428DF6C51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4286" y="590550"/>
            <a:ext cx="3217164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Design principles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D30DA9-109F-4369-BF96-9119436F0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4286" y="86868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8C52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AA855F-F9F2-46F1-B473-22547A89C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3836" y="868680"/>
            <a:ext cx="3007614" cy="320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FFFFFF"/>
                </a:solidFill>
                <a:latin typeface="Aptos"/>
                <a:ea typeface="Aptos"/>
                <a:cs typeface="Aptos"/>
              </a:rPr>
              <a:t>Routes should adapt requests, not own business rules.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0B184A-982F-495B-A7FF-8F1F89D3C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4286" y="128397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8C52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56F196-CC22-46E1-B0BA-3C872DB4B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3836" y="1283970"/>
            <a:ext cx="3007614" cy="320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FFFFFF"/>
                </a:solidFill>
                <a:latin typeface="Aptos"/>
                <a:ea typeface="Aptos"/>
                <a:cs typeface="Aptos"/>
              </a:rPr>
              <a:t>Application services should orchestrate use cases cleanly.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822C9B-0532-4DA8-BA56-7C50F131C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4286" y="169926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8C52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7119CD-1565-4D26-B3AB-3C81688A2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3836" y="1699260"/>
            <a:ext cx="3007614" cy="320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FFFFFF"/>
                </a:solidFill>
                <a:latin typeface="Aptos"/>
                <a:ea typeface="Aptos"/>
                <a:cs typeface="Aptos"/>
              </a:rPr>
              <a:t>Infrastructure should hide Mongo and external service details.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587B89-D914-46CF-9E10-347F59B61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19350"/>
            <a:ext cx="4457700" cy="3581400"/>
          </a:xfrm>
          <a:prstGeom xmlns:a="http://schemas.openxmlformats.org/drawingml/2006/main" prst="roundRect">
            <a:avLst>
              <a:gd name="adj" fmla="val 4787"/>
            </a:avLst>
          </a:prstGeom>
          <a:solidFill xmlns:a="http://schemas.openxmlformats.org/drawingml/2006/main">
            <a:srgbClr val="F2EEE7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8B1A97-9E8B-4E90-9CF2-3DAC83803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90800"/>
            <a:ext cx="411480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82126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82126"/>
                </a:solidFill>
                <a:latin typeface="Aptos Display"/>
                <a:ea typeface="Aptos Display"/>
                <a:cs typeface="Aptos Display"/>
              </a:rPr>
              <a:t>What we wanted from the new shape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DDCFF9-39EF-4E9E-ACD1-F5F11F9E5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6893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B7F6A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12D949-D870-4C11-BFD6-F46A9E11A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68930"/>
            <a:ext cx="3905250" cy="1600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82126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182126"/>
                </a:solidFill>
                <a:latin typeface="Aptos"/>
                <a:ea typeface="Aptos"/>
                <a:cs typeface="Aptos"/>
              </a:rPr>
              <a:t>A predictable place for every new change.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BD6DDF-8127-48D4-A434-D92D58F14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242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B7F6A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DAD798-9638-41BB-81BF-8DA071FF2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24200"/>
            <a:ext cx="3905250" cy="1600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82126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182126"/>
                </a:solidFill>
                <a:latin typeface="Aptos"/>
                <a:ea typeface="Aptos"/>
                <a:cs typeface="Aptos"/>
              </a:rPr>
              <a:t>Framework-agnostic business logic where possible.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AE5F8E-2BE3-486B-8F72-7A7B809B4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7947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B7F6A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D7B948-096A-4B25-BBCD-8DCFB4E7B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79470"/>
            <a:ext cx="3905250" cy="1600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82126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182126"/>
                </a:solidFill>
                <a:latin typeface="Aptos"/>
                <a:ea typeface="Aptos"/>
                <a:cs typeface="Aptos"/>
              </a:rPr>
              <a:t>Ports and adapters around external dependencies.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2503E1-2E88-47BF-A775-52B397C08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3474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B7F6A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441ED4-FF11-4C4C-8E4A-D0CF9CB60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34740"/>
            <a:ext cx="3905250" cy="320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82126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182126"/>
                </a:solidFill>
                <a:latin typeface="Aptos"/>
                <a:ea typeface="Aptos"/>
                <a:cs typeface="Aptos"/>
              </a:rPr>
              <a:t>Cleaner boundaries for testing, smoke checks, and future automation.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2647A4-6EE1-4C3F-AA7D-7F395D4DC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419350"/>
            <a:ext cx="956310" cy="1619250"/>
          </a:xfrm>
          <a:prstGeom xmlns:a="http://schemas.openxmlformats.org/drawingml/2006/main" prst="roundRect">
            <a:avLst>
              <a:gd name="adj" fmla="val 15936"/>
            </a:avLst>
          </a:prstGeom>
          <a:solidFill xmlns:a="http://schemas.openxmlformats.org/drawingml/2006/main">
            <a:srgbClr val="E8F1F9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526C2B-700C-4FB2-AFA0-4109FDF28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533650"/>
            <a:ext cx="72771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4E6FAE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4E6FAE"/>
                </a:solidFill>
                <a:latin typeface="Aptos Display"/>
                <a:ea typeface="Aptos Display"/>
                <a:cs typeface="Aptos Display"/>
              </a:rPr>
              <a:t>routes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88C2CC5-D5C2-4370-8087-94EEDD9A3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2419350"/>
            <a:ext cx="4000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E6FAE"/>
          </a:solidFill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4B5E669-58DF-41BE-A6C5-A71E57D3B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8910" y="2419350"/>
            <a:ext cx="956310" cy="1619250"/>
          </a:xfrm>
          <a:prstGeom xmlns:a="http://schemas.openxmlformats.org/drawingml/2006/main" prst="roundRect">
            <a:avLst>
              <a:gd name="adj" fmla="val 15936"/>
            </a:avLst>
          </a:prstGeom>
          <a:solidFill xmlns:a="http://schemas.openxmlformats.org/drawingml/2006/main">
            <a:srgbClr val="E2F1EE"/>
          </a:solidFill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1C3A9F5-770B-426D-A34F-6FE2DA008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3210" y="2533650"/>
            <a:ext cx="727710" cy="3657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C6E73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2C6E73"/>
                </a:solidFill>
                <a:latin typeface="Aptos Display"/>
                <a:ea typeface="Aptos Display"/>
                <a:cs typeface="Aptos Display"/>
              </a:rPr>
              <a:t>server/http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0AAA903-5F8D-49D1-BA14-A196E638B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3320" y="2419350"/>
            <a:ext cx="4000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6E73"/>
          </a:solidFill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0831FA6-69F1-4AB2-ABE4-307C9BE1F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1470" y="2419350"/>
            <a:ext cx="956310" cy="1619250"/>
          </a:xfrm>
          <a:prstGeom xmlns:a="http://schemas.openxmlformats.org/drawingml/2006/main" prst="roundRect">
            <a:avLst>
              <a:gd name="adj" fmla="val 15936"/>
            </a:avLst>
          </a:prstGeom>
          <a:solidFill xmlns:a="http://schemas.openxmlformats.org/drawingml/2006/main">
            <a:srgbClr val="E7EEF9"/>
          </a:solidFill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4C379E5-45DD-4A25-8128-593A81F03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5770" y="2533650"/>
            <a:ext cx="727710" cy="3657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4E6FAE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4E6FAE"/>
                </a:solidFill>
                <a:latin typeface="Aptos Display"/>
                <a:ea typeface="Aptos Display"/>
                <a:cs typeface="Aptos Display"/>
              </a:rPr>
              <a:t>application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4C04EF2-8223-451D-9D30-19EC57F28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5880" y="2419350"/>
            <a:ext cx="4000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B7F6A"/>
          </a:solidFill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84AB69B-AC88-4C17-A2F4-82D47E0D3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4030" y="2419350"/>
            <a:ext cx="956310" cy="1619250"/>
          </a:xfrm>
          <a:prstGeom xmlns:a="http://schemas.openxmlformats.org/drawingml/2006/main" prst="roundRect">
            <a:avLst>
              <a:gd name="adj" fmla="val 15936"/>
            </a:avLst>
          </a:prstGeom>
          <a:solidFill xmlns:a="http://schemas.openxmlformats.org/drawingml/2006/main">
            <a:srgbClr val="EFEAF8"/>
          </a:solidFill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CAF7CB8-B9B0-490E-B319-EB6CCAB9A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8330" y="2533650"/>
            <a:ext cx="72771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A5AA6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6A5AA6"/>
                </a:solidFill>
                <a:latin typeface="Aptos Display"/>
                <a:ea typeface="Aptos Display"/>
                <a:cs typeface="Aptos Display"/>
              </a:rPr>
              <a:t>domain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53AD4EE-FA24-4D1C-BD9C-A4F6E0D2E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8440" y="2419350"/>
            <a:ext cx="4000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8C52"/>
          </a:solidFill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DAC502E-90EE-4E8F-A6B5-8C96130E7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6590" y="2419350"/>
            <a:ext cx="956310" cy="1619250"/>
          </a:xfrm>
          <a:prstGeom xmlns:a="http://schemas.openxmlformats.org/drawingml/2006/main" prst="roundRect">
            <a:avLst>
              <a:gd name="adj" fmla="val 15936"/>
            </a:avLst>
          </a:prstGeom>
          <a:solidFill xmlns:a="http://schemas.openxmlformats.org/drawingml/2006/main">
            <a:srgbClr val="F4EFE8"/>
          </a:solidFill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1308AED-DE9C-42BC-B8B2-1729FEB97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0890" y="2533650"/>
            <a:ext cx="727710" cy="3657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A94E28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A94E28"/>
                </a:solidFill>
                <a:latin typeface="Aptos Display"/>
                <a:ea typeface="Aptos Display"/>
                <a:cs typeface="Aptos Display"/>
              </a:rPr>
              <a:t>infrastructure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D92CF51-EEF2-4308-8BF8-125755B94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210050"/>
            <a:ext cx="2139950" cy="1146810"/>
          </a:xfrm>
          <a:prstGeom xmlns:a="http://schemas.openxmlformats.org/drawingml/2006/main" prst="roundRect">
            <a:avLst>
              <a:gd name="adj" fmla="val 13289"/>
            </a:avLst>
          </a:prstGeom>
          <a:solidFill xmlns:a="http://schemas.openxmlformats.org/drawingml/2006/main">
            <a:srgbClr val="FFFDF9"/>
          </a:solidFill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2E93E92-15A2-4A59-B635-EE8DE7BED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362450"/>
            <a:ext cx="18351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4B7F6A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4B7F6A"/>
                </a:solidFill>
                <a:latin typeface="Aptos Display"/>
                <a:ea typeface="Aptos Display"/>
                <a:cs typeface="Aptos Display"/>
              </a:rPr>
              <a:t>Clear layering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9EAE3A3-A7C4-48F4-B8DA-223530EBE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610100"/>
            <a:ext cx="1835150" cy="5943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975">
                <a:solidFill>
                  <a:srgbClr val="5F6B73"/>
                </a:solidFill>
                <a:latin typeface="Aptos"/>
                <a:ea typeface="Aptos"/>
                <a:cs typeface="Aptos"/>
              </a:rPr>
              <a:t>Domain rules, use cases, HTTP helpers, and infrastructure adapters were separated so a reader can orient quickly.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D3DE397-5EDB-48A6-9289-9D18F5CBF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9650" y="4210050"/>
            <a:ext cx="2139950" cy="1146810"/>
          </a:xfrm>
          <a:prstGeom xmlns:a="http://schemas.openxmlformats.org/drawingml/2006/main" prst="roundRect">
            <a:avLst>
              <a:gd name="adj" fmla="val 13289"/>
            </a:avLst>
          </a:prstGeom>
          <a:solidFill xmlns:a="http://schemas.openxmlformats.org/drawingml/2006/main">
            <a:srgbClr val="FFFDF9"/>
          </a:solidFill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E3A96C2-741A-44E0-9CBD-560F8776B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2050" y="4362450"/>
            <a:ext cx="18351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C6E73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2C6E73"/>
                </a:solidFill>
                <a:latin typeface="Aptos Display"/>
                <a:ea typeface="Aptos Display"/>
                <a:cs typeface="Aptos Display"/>
              </a:rPr>
              <a:t>Ports and adapters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BDB5A3E-AF5D-4F5D-AE15-5C4118B11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2050" y="4610100"/>
            <a:ext cx="1835150" cy="5943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975">
                <a:solidFill>
                  <a:srgbClr val="5F6B73"/>
                </a:solidFill>
                <a:latin typeface="Aptos"/>
                <a:ea typeface="Aptos"/>
                <a:cs typeface="Aptos"/>
              </a:rPr>
              <a:t>Repositories, email sending, QR generation, and image storage became explicit seams instead of ambient dependencies.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D8F3B33-EF6D-49FE-AB47-422CC7441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2950" y="4210050"/>
            <a:ext cx="2139950" cy="1146810"/>
          </a:xfrm>
          <a:prstGeom xmlns:a="http://schemas.openxmlformats.org/drawingml/2006/main" prst="roundRect">
            <a:avLst>
              <a:gd name="adj" fmla="val 13289"/>
            </a:avLst>
          </a:prstGeom>
          <a:solidFill xmlns:a="http://schemas.openxmlformats.org/drawingml/2006/main">
            <a:srgbClr val="FFFDF9"/>
          </a:solidFill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E75A38A-E5B1-46A3-835A-D41C1FBCC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5350" y="4362450"/>
            <a:ext cx="18351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4E6FAE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4E6FAE"/>
                </a:solidFill>
                <a:latin typeface="Aptos Display"/>
                <a:ea typeface="Aptos Display"/>
                <a:cs typeface="Aptos Display"/>
              </a:rPr>
              <a:t>Typed configuration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B0A8208-0093-4134-A9B0-79425232C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5350" y="4610100"/>
            <a:ext cx="1835150" cy="5943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975">
                <a:solidFill>
                  <a:srgbClr val="5F6B73"/>
                </a:solidFill>
                <a:latin typeface="Aptos"/>
                <a:ea typeface="Aptos"/>
                <a:cs typeface="Aptos"/>
              </a:rPr>
              <a:t>Environment and auth setup moved into infrastructure, making local and hosted behavior easier to understand.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5DF7B8E-94F5-47BD-96A6-13D3AC336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5356860"/>
            <a:ext cx="2139950" cy="1146810"/>
          </a:xfrm>
          <a:prstGeom xmlns:a="http://schemas.openxmlformats.org/drawingml/2006/main" prst="roundRect">
            <a:avLst>
              <a:gd name="adj" fmla="val 13289"/>
            </a:avLst>
          </a:prstGeom>
          <a:solidFill xmlns:a="http://schemas.openxmlformats.org/drawingml/2006/main">
            <a:srgbClr val="FFFDF9"/>
          </a:solidFill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31FA37C-6C04-4738-BFAE-C73C52778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509260"/>
            <a:ext cx="18351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A94E28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A94E28"/>
                </a:solidFill>
                <a:latin typeface="Aptos Display"/>
                <a:ea typeface="Aptos Display"/>
                <a:cs typeface="Aptos Display"/>
              </a:rPr>
              <a:t>Thin routes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9826AC8-95AD-49D4-912E-374611985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756910"/>
            <a:ext cx="1835150" cy="5943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975">
                <a:solidFill>
                  <a:srgbClr val="5F6B73"/>
                </a:solidFill>
                <a:latin typeface="Aptos"/>
                <a:ea typeface="Aptos"/>
                <a:cs typeface="Aptos"/>
              </a:rPr>
              <a:t>Route handlers now focus on parsing, guarding, calling a service, and mapping outcomes back to the web layer.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A80A15D-1EF2-4624-9706-A15C9A884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9650" y="5356860"/>
            <a:ext cx="2139950" cy="1146810"/>
          </a:xfrm>
          <a:prstGeom xmlns:a="http://schemas.openxmlformats.org/drawingml/2006/main" prst="roundRect">
            <a:avLst>
              <a:gd name="adj" fmla="val 13289"/>
            </a:avLst>
          </a:prstGeom>
          <a:solidFill xmlns:a="http://schemas.openxmlformats.org/drawingml/2006/main">
            <a:srgbClr val="FFFDF9"/>
          </a:solidFill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E17DA9B-2C6A-4D9D-A26B-F616179D0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2050" y="5509260"/>
            <a:ext cx="18351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4B7F6A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4B7F6A"/>
                </a:solidFill>
                <a:latin typeface="Aptos Display"/>
                <a:ea typeface="Aptos Display"/>
                <a:cs typeface="Aptos Display"/>
              </a:rPr>
              <a:t>Cleaner local onboarding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3284497-C95F-4EB3-A1ED-8F9ACF786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2050" y="5756910"/>
            <a:ext cx="1835150" cy="5943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975">
                <a:solidFill>
                  <a:srgbClr val="5F6B73"/>
                </a:solidFill>
                <a:latin typeface="Aptos"/>
                <a:ea typeface="Aptos"/>
                <a:cs typeface="Aptos"/>
              </a:rPr>
              <a:t>Bootstrap and dev-only paths were shaped so a local Mongo database and local auth can carry the app farther.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80AD0E7-4431-4F16-9D1E-84405BC87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2950" y="5356860"/>
            <a:ext cx="2139950" cy="1146810"/>
          </a:xfrm>
          <a:prstGeom xmlns:a="http://schemas.openxmlformats.org/drawingml/2006/main" prst="roundRect">
            <a:avLst>
              <a:gd name="adj" fmla="val 13289"/>
            </a:avLst>
          </a:prstGeom>
          <a:solidFill xmlns:a="http://schemas.openxmlformats.org/drawingml/2006/main">
            <a:srgbClr val="FFFDF9"/>
          </a:solidFill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F0B1ED6-D4DE-4B25-ADF9-B445E76DA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5350" y="5509260"/>
            <a:ext cx="18351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C6E73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2C6E73"/>
                </a:solidFill>
                <a:latin typeface="Aptos Display"/>
                <a:ea typeface="Aptos Display"/>
                <a:cs typeface="Aptos Display"/>
              </a:rPr>
              <a:t>Better for Codex too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4DF1FC3-0014-4A9F-9E73-A18846555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5350" y="5756910"/>
            <a:ext cx="1835150" cy="5943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975">
                <a:solidFill>
                  <a:srgbClr val="5F6B73"/>
                </a:solidFill>
                <a:latin typeface="Aptos"/>
                <a:ea typeface="Aptos"/>
                <a:cs typeface="Aptos"/>
              </a:rPr>
              <a:t>When architecture is predictable, feature work becomes faster, less repetitive, and less likely to land in the wrong place.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A0EFBA0-BC8C-4515-B44F-B21F0677B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172200"/>
            <a:ext cx="113538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975">
                <a:solidFill>
                  <a:srgbClr val="5F6B73"/>
                </a:solidFill>
                <a:latin typeface="Aptos"/>
                <a:ea typeface="Aptos"/>
                <a:cs typeface="Aptos"/>
              </a:rPr>
              <a:t>The target architecture gave every concern a clearer home</a:t>
            </a:r>
          </a:p>
        </p:txBody>
      </p:sp>
    </p:spTree>
    <p:extLst>
      <p:ext uri="{BB962C8B-B14F-4D97-AF65-F5344CB8AC3E}">
        <p14:creationId xmlns:p14="http://schemas.microsoft.com/office/powerpoint/2010/main" val="87076498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7EEAF98-1A80-4049-981B-6C8B42718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7F3EE"/>
              </a:gs>
              <a:gs pos="100000">
                <a:srgbClr val="EFE8DC"/>
              </a:gs>
            </a:gsLst>
            <a:lin ang="10800000"/>
          </a:gra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7208D8-6510-4700-B2BA-1CAC009A1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19100"/>
            <a:ext cx="7565136" cy="1600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A94E2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A94E28"/>
                </a:solidFill>
                <a:latin typeface="Aptos"/>
                <a:ea typeface="Aptos"/>
                <a:cs typeface="Aptos"/>
              </a:rPr>
              <a:t>Refactoring Phases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F6CD97-1986-4CF5-9343-CD4987398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74370"/>
            <a:ext cx="7565136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821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82126"/>
                </a:solidFill>
                <a:latin typeface="Aptos Display"/>
                <a:ea typeface="Aptos Display"/>
                <a:cs typeface="Aptos Display"/>
              </a:rPr>
              <a:t>We treated the cleanup as a guided migration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F751A6-4944-428E-858E-F94142D0D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12520"/>
            <a:ext cx="7565136" cy="3886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F6B73"/>
                </a:solidFill>
                <a:latin typeface="Aptos"/>
                <a:ea typeface="Aptos"/>
                <a:cs typeface="Aptos"/>
              </a:rPr>
              <a:t>The structure changed a lot, but the strategy stayed steady: add a cleaner path, move one slice at a time, then remove the legacy path once it was safe.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BA910A-7C95-4830-A4AF-573C268ED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836" y="419100"/>
            <a:ext cx="3560064" cy="1839278"/>
          </a:xfrm>
          <a:prstGeom xmlns:a="http://schemas.openxmlformats.org/drawingml/2006/main" prst="roundRect">
            <a:avLst>
              <a:gd name="adj" fmla="val 9322"/>
            </a:avLst>
          </a:prstGeom>
          <a:solidFill xmlns:a="http://schemas.openxmlformats.org/drawingml/2006/main">
            <a:srgbClr val="24343A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CF28BA-C1EF-4282-A9EC-18304A984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4286" y="590550"/>
            <a:ext cx="3217164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Why this approach helped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17A963-80BC-4774-AA85-71F4EAE05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4286" y="86868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8C52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D60D1E-2051-497E-91EB-F2B72960C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3836" y="868680"/>
            <a:ext cx="3007614" cy="320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FFFFFF"/>
                </a:solidFill>
                <a:latin typeface="Aptos"/>
                <a:ea typeface="Aptos"/>
                <a:cs typeface="Aptos"/>
              </a:rPr>
              <a:t>Reduced the risk of breaking the booking and admin flows.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0AC119-E152-443C-BB6E-42BBCA36C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4286" y="128397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8C52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8262F6-98B3-46FA-8CCA-8C68ABFE4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3836" y="1283970"/>
            <a:ext cx="3007614" cy="320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FFFFFF"/>
                </a:solidFill>
                <a:latin typeface="Aptos"/>
                <a:ea typeface="Aptos"/>
                <a:cs typeface="Aptos"/>
              </a:rPr>
              <a:t>Made each architectural move easier to reason about.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3F4790-ACCC-4CB1-A84D-6FB800523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4286" y="169926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8C52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44A643-9445-437E-ADA6-76FD1141A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3836" y="1699260"/>
            <a:ext cx="3007614" cy="320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FFFFFF"/>
                </a:solidFill>
                <a:latin typeface="Aptos"/>
                <a:ea typeface="Aptos"/>
                <a:cs typeface="Aptos"/>
              </a:rPr>
              <a:t>Let smoke testing happen against meaningful checkpoints.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B9FCE9-51A5-49C1-8123-C6EC08898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48878"/>
            <a:ext cx="3695700" cy="1042988"/>
          </a:xfrm>
          <a:prstGeom xmlns:a="http://schemas.openxmlformats.org/drawingml/2006/main" prst="roundRect">
            <a:avLst>
              <a:gd name="adj" fmla="val 16438"/>
            </a:avLst>
          </a:prstGeom>
          <a:solidFill xmlns:a="http://schemas.openxmlformats.org/drawingml/2006/main">
            <a:srgbClr val="EAF2F8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76A697-E2A7-4F84-A442-A44AAE83C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82228"/>
            <a:ext cx="3429000" cy="137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4E6FA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E6FAE"/>
                </a:solidFill>
                <a:latin typeface="Aptos"/>
                <a:ea typeface="Aptos"/>
                <a:cs typeface="Aptos"/>
              </a:rPr>
              <a:t>Phase 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4644E4-B758-4A94-9274-F016A1FAD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76538"/>
            <a:ext cx="342900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82126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82126"/>
                </a:solidFill>
                <a:latin typeface="Aptos Display"/>
                <a:ea typeface="Aptos Display"/>
                <a:cs typeface="Aptos Display"/>
              </a:rPr>
              <a:t>Lay the foundation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749C2E-28C8-4CCF-961B-585A807C7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16568"/>
            <a:ext cx="3429000" cy="137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5F6B73"/>
                </a:solidFill>
                <a:latin typeface="Aptos"/>
                <a:ea typeface="Aptos"/>
                <a:cs typeface="Aptos"/>
              </a:rPr>
              <a:t>Create the new architecture skeleton and naming conventions first.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429A46-C08C-4A3C-A25D-733D8BCC8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448878"/>
            <a:ext cx="3695700" cy="1042988"/>
          </a:xfrm>
          <a:prstGeom xmlns:a="http://schemas.openxmlformats.org/drawingml/2006/main" prst="roundRect">
            <a:avLst>
              <a:gd name="adj" fmla="val 16438"/>
            </a:avLst>
          </a:prstGeom>
          <a:solidFill xmlns:a="http://schemas.openxmlformats.org/drawingml/2006/main">
            <a:srgbClr val="F0ECF9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98455F-0574-42F2-A24E-9CCB680B2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582228"/>
            <a:ext cx="3429000" cy="137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A5AA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A5AA6"/>
                </a:solidFill>
                <a:latin typeface="Aptos"/>
                <a:ea typeface="Aptos"/>
                <a:cs typeface="Aptos"/>
              </a:rPr>
              <a:t>Phase 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6214FA-1996-4116-9EA6-C6878BBEA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776538"/>
            <a:ext cx="342900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82126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82126"/>
                </a:solidFill>
                <a:latin typeface="Aptos Display"/>
                <a:ea typeface="Aptos Display"/>
                <a:cs typeface="Aptos Display"/>
              </a:rPr>
              <a:t>Normalize the domain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FF5004-9A6F-41C4-BB76-8AC41CB89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016568"/>
            <a:ext cx="342900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5F6B73"/>
                </a:solidFill>
                <a:latin typeface="Aptos"/>
                <a:ea typeface="Aptos"/>
                <a:cs typeface="Aptos"/>
              </a:rPr>
              <a:t>Move models, enums, and business rules into clearer domain modules.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4950BC-E7BC-4CDE-9C96-DE7ADCD63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448878"/>
            <a:ext cx="3695700" cy="1042988"/>
          </a:xfrm>
          <a:prstGeom xmlns:a="http://schemas.openxmlformats.org/drawingml/2006/main" prst="roundRect">
            <a:avLst>
              <a:gd name="adj" fmla="val 16438"/>
            </a:avLst>
          </a:prstGeom>
          <a:solidFill xmlns:a="http://schemas.openxmlformats.org/drawingml/2006/main">
            <a:srgbClr val="E4F1EA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50052F-9853-4D55-A4C2-AF2D795BF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582228"/>
            <a:ext cx="3429000" cy="137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4B7F6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B7F6A"/>
                </a:solidFill>
                <a:latin typeface="Aptos"/>
                <a:ea typeface="Aptos"/>
                <a:cs typeface="Aptos"/>
              </a:rPr>
              <a:t>Phase 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3C944B-1ADD-4C66-B0CE-18386720F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776538"/>
            <a:ext cx="342900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82126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82126"/>
                </a:solidFill>
                <a:latin typeface="Aptos Display"/>
                <a:ea typeface="Aptos Display"/>
                <a:cs typeface="Aptos Display"/>
              </a:rPr>
              <a:t>Decouple the services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A5E7DA-2507-4D7C-A597-E0ECA6744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016568"/>
            <a:ext cx="342900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5F6B73"/>
                </a:solidFill>
                <a:latin typeface="Aptos"/>
                <a:ea typeface="Aptos"/>
                <a:cs typeface="Aptos"/>
              </a:rPr>
              <a:t>Replace framework-aware workflows with application services and app-level errors.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78A6977-E0FC-4525-A631-8635FF7F6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682365"/>
            <a:ext cx="3695700" cy="1042988"/>
          </a:xfrm>
          <a:prstGeom xmlns:a="http://schemas.openxmlformats.org/drawingml/2006/main" prst="roundRect">
            <a:avLst>
              <a:gd name="adj" fmla="val 16438"/>
            </a:avLst>
          </a:prstGeom>
          <a:solidFill xmlns:a="http://schemas.openxmlformats.org/drawingml/2006/main">
            <a:srgbClr val="F5EFE7"/>
          </a:solidFill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EA21A9-2633-445D-9A91-B08A506B2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5715"/>
            <a:ext cx="3429000" cy="137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94E2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94E28"/>
                </a:solidFill>
                <a:latin typeface="Aptos"/>
                <a:ea typeface="Aptos"/>
                <a:cs typeface="Aptos"/>
              </a:rPr>
              <a:t>Phase 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B1B9614-F42D-40BF-A6B5-C2831ABEE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10025"/>
            <a:ext cx="342900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82126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82126"/>
                </a:solidFill>
                <a:latin typeface="Aptos Display"/>
                <a:ea typeface="Aptos Display"/>
                <a:cs typeface="Aptos Display"/>
              </a:rPr>
              <a:t>Rebuild persistence seams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02C816F-2030-44EB-B2B4-945504350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50055"/>
            <a:ext cx="342900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5F6B73"/>
                </a:solidFill>
                <a:latin typeface="Aptos"/>
                <a:ea typeface="Aptos"/>
                <a:cs typeface="Aptos"/>
              </a:rPr>
              <a:t>Move Mongo concerns into repository implementations behind ports.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58A83E8-CBAA-412F-B388-410D141CF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682365"/>
            <a:ext cx="3695700" cy="1042988"/>
          </a:xfrm>
          <a:prstGeom xmlns:a="http://schemas.openxmlformats.org/drawingml/2006/main" prst="roundRect">
            <a:avLst>
              <a:gd name="adj" fmla="val 16438"/>
            </a:avLst>
          </a:prstGeom>
          <a:solidFill xmlns:a="http://schemas.openxmlformats.org/drawingml/2006/main">
            <a:srgbClr val="E6F0EE"/>
          </a:solidFill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0693799-E7CD-48AF-9ED6-7895536D0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815715"/>
            <a:ext cx="3429000" cy="137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C6E7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C6E73"/>
                </a:solidFill>
                <a:latin typeface="Aptos"/>
                <a:ea typeface="Aptos"/>
                <a:cs typeface="Aptos"/>
              </a:rPr>
              <a:t>Phase 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10868C1-500B-443A-8272-3AF2D375B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010025"/>
            <a:ext cx="342900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82126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82126"/>
                </a:solidFill>
                <a:latin typeface="Aptos Display"/>
                <a:ea typeface="Aptos Display"/>
                <a:cs typeface="Aptos Display"/>
              </a:rPr>
              <a:t>Centralize the platform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CD75407-7E19-43EA-B779-21F63373F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250055"/>
            <a:ext cx="342900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5F6B73"/>
                </a:solidFill>
                <a:latin typeface="Aptos"/>
                <a:ea typeface="Aptos"/>
                <a:cs typeface="Aptos"/>
              </a:rPr>
              <a:t>Gather auth, config, bootstrap, logging, media, and email under infrastructure.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24EB313-47FF-4123-9F47-E0597034C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682365"/>
            <a:ext cx="3695700" cy="1042988"/>
          </a:xfrm>
          <a:prstGeom xmlns:a="http://schemas.openxmlformats.org/drawingml/2006/main" prst="roundRect">
            <a:avLst>
              <a:gd name="adj" fmla="val 16438"/>
            </a:avLst>
          </a:prstGeom>
          <a:solidFill xmlns:a="http://schemas.openxmlformats.org/drawingml/2006/main">
            <a:srgbClr val="FBEEE4"/>
          </a:solidFill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F160922-907D-45C3-99B3-9379AB968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815715"/>
            <a:ext cx="3429000" cy="137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28C5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28C52"/>
                </a:solidFill>
                <a:latin typeface="Aptos"/>
                <a:ea typeface="Aptos"/>
                <a:cs typeface="Aptos"/>
              </a:rPr>
              <a:t>Phase 3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EDC1A94-642D-4DC2-938B-F100BD2F2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010025"/>
            <a:ext cx="342900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82126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82126"/>
                </a:solidFill>
                <a:latin typeface="Aptos Display"/>
                <a:ea typeface="Aptos Display"/>
                <a:cs typeface="Aptos Display"/>
              </a:rPr>
              <a:t>Thin the routes and clean house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1E51AC7-D4A1-441D-997E-3597037DD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250055"/>
            <a:ext cx="342900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5F6B73"/>
                </a:solidFill>
                <a:latin typeface="Aptos"/>
                <a:ea typeface="Aptos"/>
                <a:cs typeface="Aptos"/>
              </a:rPr>
              <a:t>Convert routes into adapters, remove noisy leftovers, and smoke test the main flows.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27364A7-121F-4727-9145-25A0A07BC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915853"/>
            <a:ext cx="3683000" cy="1084898"/>
          </a:xfrm>
          <a:prstGeom xmlns:a="http://schemas.openxmlformats.org/drawingml/2006/main" prst="roundRect">
            <a:avLst>
              <a:gd name="adj" fmla="val 14047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7D0C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9BBA5D4-9868-4124-82D3-E1B4EB670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87303"/>
            <a:ext cx="3340100" cy="320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2126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82126"/>
                </a:solidFill>
                <a:latin typeface="Aptos Display"/>
                <a:ea typeface="Aptos Display"/>
                <a:cs typeface="Aptos Display"/>
              </a:rPr>
              <a:t>6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6E547A9-747E-4590-8564-47B6CD940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64493"/>
            <a:ext cx="3340100" cy="1485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975">
                <a:solidFill>
                  <a:srgbClr val="5F6B73"/>
                </a:solidFill>
                <a:latin typeface="Aptos"/>
                <a:ea typeface="Aptos"/>
                <a:cs typeface="Aptos"/>
              </a:rPr>
              <a:t>implementation phases in the working plan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4DA8943-F563-433F-A447-D90C42980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4500" y="4915853"/>
            <a:ext cx="3683000" cy="1084898"/>
          </a:xfrm>
          <a:prstGeom xmlns:a="http://schemas.openxmlformats.org/drawingml/2006/main" prst="roundRect">
            <a:avLst>
              <a:gd name="adj" fmla="val 14047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7D0C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2E421D5-45EB-49D4-B4D8-386613DDB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5950" y="5087303"/>
            <a:ext cx="3340100" cy="320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2126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82126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EB245F5-B3F5-44A2-823C-99438FC86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5950" y="5464493"/>
            <a:ext cx="3340100" cy="2971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975">
                <a:solidFill>
                  <a:srgbClr val="5F6B73"/>
                </a:solidFill>
                <a:latin typeface="Aptos"/>
                <a:ea typeface="Aptos"/>
                <a:cs typeface="Aptos"/>
              </a:rPr>
              <a:t>core principle: add the new path before deleting the old path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F4C400E-12FA-40FF-A28A-A80E35009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9900" y="4915853"/>
            <a:ext cx="3683000" cy="1084898"/>
          </a:xfrm>
          <a:prstGeom xmlns:a="http://schemas.openxmlformats.org/drawingml/2006/main" prst="roundRect">
            <a:avLst>
              <a:gd name="adj" fmla="val 14047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7D0C6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3F25870-9400-4B41-9A26-9DF9E365E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1350" y="5087303"/>
            <a:ext cx="3340100" cy="320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2126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82126"/>
                </a:solidFill>
                <a:latin typeface="Aptos Display"/>
                <a:ea typeface="Aptos Display"/>
                <a:cs typeface="Aptos Display"/>
              </a:rPr>
              <a:t>96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7538A0D-155E-4911-B245-686DFDEEE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1350" y="5464493"/>
            <a:ext cx="3340100" cy="1485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975">
                <a:solidFill>
                  <a:srgbClr val="5F6B73"/>
                </a:solidFill>
                <a:latin typeface="Aptos"/>
                <a:ea typeface="Aptos"/>
                <a:cs typeface="Aptos"/>
              </a:rPr>
              <a:t>files touched in the main refactor commit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1936ECC-CE2D-464F-9202-0F3D53CC6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172200"/>
            <a:ext cx="113538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975">
                <a:solidFill>
                  <a:srgbClr val="5F6B73"/>
                </a:solidFill>
                <a:latin typeface="Aptos"/>
                <a:ea typeface="Aptos"/>
                <a:cs typeface="Aptos"/>
              </a:rPr>
              <a:t>The refactor was designed as a sequence of safe moves, not a big-bang rewrite</a:t>
            </a:r>
          </a:p>
        </p:txBody>
      </p:sp>
    </p:spTree>
    <p:extLst>
      <p:ext uri="{BB962C8B-B14F-4D97-AF65-F5344CB8AC3E}">
        <p14:creationId xmlns:p14="http://schemas.microsoft.com/office/powerpoint/2010/main" val="1260792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8EAEA16-F3F9-42F1-9081-E94499A19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7F3EE"/>
              </a:gs>
              <a:gs pos="100000">
                <a:srgbClr val="EFE8DC"/>
              </a:gs>
            </a:gsLst>
            <a:lin ang="10800000"/>
          </a:gra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1AAFFE-9224-4622-A5EB-C3A5A92D1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19100"/>
            <a:ext cx="7565136" cy="1600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A94E2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A94E28"/>
                </a:solidFill>
                <a:latin typeface="Aptos"/>
                <a:ea typeface="Aptos"/>
                <a:cs typeface="Aptos"/>
              </a:rPr>
              <a:t>Structure Shift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7843A9-AD51-4228-807E-063182CEA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74370"/>
            <a:ext cx="7565136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821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82126"/>
                </a:solidFill>
                <a:latin typeface="Aptos Display"/>
                <a:ea typeface="Aptos Display"/>
                <a:cs typeface="Aptos Display"/>
              </a:rPr>
              <a:t>The directory layout now tells a much clearer story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25CEB6-1A21-4923-91BA-FB02448C8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12520"/>
            <a:ext cx="7565136" cy="3886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F6B73"/>
                </a:solidFill>
                <a:latin typeface="Aptos"/>
                <a:ea typeface="Aptos"/>
                <a:cs typeface="Aptos"/>
              </a:rPr>
              <a:t>This is the kind of change that pays off every time somebody opens the repo and asks, “Where should I start?”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6418EA-DCCC-451A-9BAC-72BCFA92A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836" y="419100"/>
            <a:ext cx="3560064" cy="17716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24343A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7BA130-8653-48DE-9CA0-B28D1BDAC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4286" y="590550"/>
            <a:ext cx="3217164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What improved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BF3480-9C6E-40EC-8991-F567F6C49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4286" y="86868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8C52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3EAECC-D598-47E8-B9A9-32D331454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3836" y="868680"/>
            <a:ext cx="3007614" cy="320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FFFFFF"/>
                </a:solidFill>
                <a:latin typeface="Aptos"/>
                <a:ea typeface="Aptos"/>
                <a:cs typeface="Aptos"/>
              </a:rPr>
              <a:t>More explicit names for business logic and infrastructure.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EB0F57-94EC-463B-9D53-702C6574A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4286" y="128397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8C52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1D9FE8-E92E-46BF-9726-3F359FD1C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3836" y="1283970"/>
            <a:ext cx="3007614" cy="320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FFFFFF"/>
                </a:solidFill>
                <a:latin typeface="Aptos"/>
                <a:ea typeface="Aptos"/>
                <a:cs typeface="Aptos"/>
              </a:rPr>
              <a:t>Less ambiguity between feature code and persistence code.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B39955-9637-48A7-B909-55B6810E6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4286" y="169926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8C52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D88B0A-E602-4591-965C-F6F5DC8EB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3836" y="1699260"/>
            <a:ext cx="3007614" cy="320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FFFFFF"/>
                </a:solidFill>
                <a:latin typeface="Aptos"/>
                <a:ea typeface="Aptos"/>
                <a:cs typeface="Aptos"/>
              </a:rPr>
              <a:t>Far fewer false leads during repo search and onboarding.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7D15D2-32DF-4E38-93DD-96BFD4FDA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00300"/>
            <a:ext cx="4003964" cy="3095625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7D0C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BC17AE-E0BC-4511-9DFD-3AF5ECD41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71750"/>
            <a:ext cx="3661064" cy="2057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65D4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C65D4B"/>
                </a:solidFill>
                <a:latin typeface="Aptos Display"/>
                <a:ea typeface="Aptos Display"/>
                <a:cs typeface="Aptos Display"/>
              </a:rPr>
              <a:t>Before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55FCB8-E8E5-4937-B756-82F6CCA64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72740"/>
            <a:ext cx="3661064" cy="2451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  <a:defRPr sz="1125">
                <a:solidFill>
                  <a:srgbClr val="182126"/>
                </a:solidFill>
                <a:latin typeface="Aptos Mono"/>
                <a:ea typeface="Aptos Mono"/>
                <a:cs typeface="Aptos Mono"/>
              </a:defRPr>
            </a:pPr>
            <a:r>
              <a:rPr sz="1125">
                <a:solidFill>
                  <a:srgbClr val="182126"/>
                </a:solidFill>
                <a:latin typeface="Aptos Mono"/>
                <a:ea typeface="Aptos Mono"/>
                <a:cs typeface="Aptos Mono"/>
              </a:rPr>
              <a:t>src/lib/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125">
                <a:solidFill>
                  <a:srgbClr val="182126"/>
                </a:solidFill>
                <a:latin typeface="Aptos Mono"/>
                <a:ea typeface="Aptos Mono"/>
                <a:cs typeface="Aptos Mono"/>
              </a:defRPr>
            </a:pPr>
            <a:r>
              <a:rPr sz="1125">
                <a:solidFill>
                  <a:srgbClr val="182126"/>
                </a:solidFill>
                <a:latin typeface="Aptos Mono"/>
                <a:ea typeface="Aptos Mono"/>
                <a:cs typeface="Aptos Mono"/>
              </a:rPr>
              <a:t>  entities/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125">
                <a:solidFill>
                  <a:srgbClr val="182126"/>
                </a:solidFill>
                <a:latin typeface="Aptos Mono"/>
                <a:ea typeface="Aptos Mono"/>
                <a:cs typeface="Aptos Mono"/>
              </a:defRPr>
            </a:pPr>
            <a:r>
              <a:rPr sz="1125">
                <a:solidFill>
                  <a:srgbClr val="182126"/>
                </a:solidFill>
                <a:latin typeface="Aptos Mono"/>
                <a:ea typeface="Aptos Mono"/>
                <a:cs typeface="Aptos Mono"/>
              </a:rPr>
              <a:t>  server/workflows/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125">
                <a:solidFill>
                  <a:srgbClr val="182126"/>
                </a:solidFill>
                <a:latin typeface="Aptos Mono"/>
                <a:ea typeface="Aptos Mono"/>
                <a:cs typeface="Aptos Mono"/>
              </a:defRPr>
            </a:pPr>
            <a:r>
              <a:rPr sz="1125">
                <a:solidFill>
                  <a:srgbClr val="182126"/>
                </a:solidFill>
                <a:latin typeface="Aptos Mono"/>
                <a:ea typeface="Aptos Mono"/>
                <a:cs typeface="Aptos Mono"/>
              </a:rPr>
              <a:t>  server/data_sources/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125">
                <a:solidFill>
                  <a:srgbClr val="182126"/>
                </a:solidFill>
                <a:latin typeface="Aptos Mono"/>
                <a:ea typeface="Aptos Mono"/>
                <a:cs typeface="Aptos Mono"/>
              </a:defRPr>
            </a:pPr>
            <a:r>
              <a:rPr sz="1125">
                <a:solidFill>
                  <a:srgbClr val="182126"/>
                </a:solidFill>
                <a:latin typeface="Aptos Mono"/>
                <a:ea typeface="Aptos Mono"/>
                <a:cs typeface="Aptos Mono"/>
              </a:rPr>
              <a:t>  server/external_services/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125">
                <a:solidFill>
                  <a:srgbClr val="182126"/>
                </a:solidFill>
                <a:latin typeface="Aptos Mono"/>
                <a:ea typeface="Aptos Mono"/>
                <a:cs typeface="Aptos Mono"/>
              </a:defRPr>
            </a:pPr>
            <a:r>
              <a:rPr sz="1125">
                <a:solidFill>
                  <a:srgbClr val="182126"/>
                </a:solidFill>
                <a:latin typeface="Aptos Mono"/>
                <a:ea typeface="Aptos Mono"/>
                <a:cs typeface="Aptos Mono"/>
              </a:rPr>
              <a:t>src/routes/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125">
                <a:solidFill>
                  <a:srgbClr val="182126"/>
                </a:solidFill>
                <a:latin typeface="Aptos Mono"/>
                <a:ea typeface="Aptos Mono"/>
                <a:cs typeface="Aptos Mono"/>
              </a:defRPr>
            </a:pPr>
            <a:r>
              <a:rPr sz="1125">
                <a:solidFill>
                  <a:srgbClr val="182126"/>
                </a:solidFill>
                <a:latin typeface="Aptos Mono"/>
                <a:ea typeface="Aptos Mono"/>
                <a:cs typeface="Aptos Mono"/>
              </a:rPr>
              <a:t>  api/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125">
                <a:solidFill>
                  <a:srgbClr val="182126"/>
                </a:solidFill>
                <a:latin typeface="Aptos Mono"/>
                <a:ea typeface="Aptos Mono"/>
                <a:cs typeface="Aptos Mono"/>
              </a:defRPr>
            </a:pPr>
            <a:r>
              <a:rPr sz="1125">
                <a:solidFill>
                  <a:srgbClr val="182126"/>
                </a:solidFill>
                <a:latin typeface="Aptos Mono"/>
                <a:ea typeface="Aptos Mono"/>
                <a:cs typeface="Aptos Mono"/>
              </a:rPr>
              <a:t>  testing/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125">
                <a:solidFill>
                  <a:srgbClr val="182126"/>
                </a:solidFill>
                <a:latin typeface="Aptos Mono"/>
                <a:ea typeface="Aptos Mono"/>
                <a:cs typeface="Aptos Mono"/>
              </a:defRPr>
            </a:pPr>
            <a:r>
              <a:rPr sz="1125">
                <a:solidFill>
                  <a:srgbClr val="182126"/>
                </a:solidFill>
                <a:latin typeface="Aptos Mono"/>
                <a:ea typeface="Aptos Mono"/>
                <a:cs typeface="Aptos Mono"/>
              </a:rPr>
              <a:t>  init/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125">
                <a:solidFill>
                  <a:srgbClr val="182126"/>
                </a:solidFill>
                <a:latin typeface="Aptos Mono"/>
                <a:ea typeface="Aptos Mono"/>
                <a:cs typeface="Aptos Mono"/>
              </a:defRPr>
            </a:pPr>
            <a:r>
              <a:rPr sz="1125">
                <a:solidFill>
                  <a:srgbClr val="182126"/>
                </a:solidFill>
                <a:latin typeface="Aptos Mono"/>
                <a:ea typeface="Aptos Mono"/>
                <a:cs typeface="Aptos Mono"/>
              </a:rPr>
              <a:t>  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F31B15-C987-4247-A7B6-08EE78420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4514" y="2400300"/>
            <a:ext cx="4003964" cy="3095625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7D0C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531946-BAA0-44AD-97A9-76C0BA0CA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5964" y="2571750"/>
            <a:ext cx="3661064" cy="2057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4B7F6A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4B7F6A"/>
                </a:solidFill>
                <a:latin typeface="Aptos Display"/>
                <a:ea typeface="Aptos Display"/>
                <a:cs typeface="Aptos Display"/>
              </a:rPr>
              <a:t>After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F2694D-558E-4646-806D-3CEE0901E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5964" y="2872740"/>
            <a:ext cx="3661064" cy="2228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  <a:defRPr sz="1125">
                <a:solidFill>
                  <a:srgbClr val="182126"/>
                </a:solidFill>
                <a:latin typeface="Aptos Mono"/>
                <a:ea typeface="Aptos Mono"/>
                <a:cs typeface="Aptos Mono"/>
              </a:defRPr>
            </a:pPr>
            <a:r>
              <a:rPr sz="1125">
                <a:solidFill>
                  <a:srgbClr val="182126"/>
                </a:solidFill>
                <a:latin typeface="Aptos Mono"/>
                <a:ea typeface="Aptos Mono"/>
                <a:cs typeface="Aptos Mono"/>
              </a:rPr>
              <a:t>src/lib/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125">
                <a:solidFill>
                  <a:srgbClr val="182126"/>
                </a:solidFill>
                <a:latin typeface="Aptos Mono"/>
                <a:ea typeface="Aptos Mono"/>
                <a:cs typeface="Aptos Mono"/>
              </a:defRPr>
            </a:pPr>
            <a:r>
              <a:rPr sz="1125">
                <a:solidFill>
                  <a:srgbClr val="182126"/>
                </a:solidFill>
                <a:latin typeface="Aptos Mono"/>
                <a:ea typeface="Aptos Mono"/>
                <a:cs typeface="Aptos Mono"/>
              </a:rPr>
              <a:t>  domain/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125">
                <a:solidFill>
                  <a:srgbClr val="182126"/>
                </a:solidFill>
                <a:latin typeface="Aptos Mono"/>
                <a:ea typeface="Aptos Mono"/>
                <a:cs typeface="Aptos Mono"/>
              </a:defRPr>
            </a:pPr>
            <a:r>
              <a:rPr sz="1125">
                <a:solidFill>
                  <a:srgbClr val="182126"/>
                </a:solidFill>
                <a:latin typeface="Aptos Mono"/>
                <a:ea typeface="Aptos Mono"/>
                <a:cs typeface="Aptos Mono"/>
              </a:rPr>
              <a:t>  application/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125">
                <a:solidFill>
                  <a:srgbClr val="182126"/>
                </a:solidFill>
                <a:latin typeface="Aptos Mono"/>
                <a:ea typeface="Aptos Mono"/>
                <a:cs typeface="Aptos Mono"/>
              </a:defRPr>
            </a:pPr>
            <a:r>
              <a:rPr sz="1125">
                <a:solidFill>
                  <a:srgbClr val="182126"/>
                </a:solidFill>
                <a:latin typeface="Aptos Mono"/>
                <a:ea typeface="Aptos Mono"/>
                <a:cs typeface="Aptos Mono"/>
              </a:rPr>
              <a:t>  infrastructure/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125">
                <a:solidFill>
                  <a:srgbClr val="182126"/>
                </a:solidFill>
                <a:latin typeface="Aptos Mono"/>
                <a:ea typeface="Aptos Mono"/>
                <a:cs typeface="Aptos Mono"/>
              </a:defRPr>
            </a:pPr>
            <a:r>
              <a:rPr sz="1125">
                <a:solidFill>
                  <a:srgbClr val="182126"/>
                </a:solidFill>
                <a:latin typeface="Aptos Mono"/>
                <a:ea typeface="Aptos Mono"/>
                <a:cs typeface="Aptos Mono"/>
              </a:rPr>
              <a:t>  server/http/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125">
                <a:solidFill>
                  <a:srgbClr val="182126"/>
                </a:solidFill>
                <a:latin typeface="Aptos Mono"/>
                <a:ea typeface="Aptos Mono"/>
                <a:cs typeface="Aptos Mono"/>
              </a:defRPr>
            </a:pPr>
            <a:r>
              <a:rPr sz="1125">
                <a:solidFill>
                  <a:srgbClr val="182126"/>
                </a:solidFill>
                <a:latin typeface="Aptos Mono"/>
                <a:ea typeface="Aptos Mono"/>
                <a:cs typeface="Aptos Mono"/>
              </a:rPr>
              <a:t>src/routes/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125">
                <a:solidFill>
                  <a:srgbClr val="182126"/>
                </a:solidFill>
                <a:latin typeface="Aptos Mono"/>
                <a:ea typeface="Aptos Mono"/>
                <a:cs typeface="Aptos Mono"/>
              </a:defRPr>
            </a:pPr>
            <a:r>
              <a:rPr sz="1125">
                <a:solidFill>
                  <a:srgbClr val="182126"/>
                </a:solidFill>
                <a:latin typeface="Aptos Mono"/>
                <a:ea typeface="Aptos Mono"/>
                <a:cs typeface="Aptos Mono"/>
              </a:rPr>
              <a:t>  public pages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125">
                <a:solidFill>
                  <a:srgbClr val="182126"/>
                </a:solidFill>
                <a:latin typeface="Aptos Mono"/>
                <a:ea typeface="Aptos Mono"/>
                <a:cs typeface="Aptos Mono"/>
              </a:defRPr>
            </a:pPr>
            <a:r>
              <a:rPr sz="1125">
                <a:solidFill>
                  <a:srgbClr val="182126"/>
                </a:solidFill>
                <a:latin typeface="Aptos Mono"/>
                <a:ea typeface="Aptos Mono"/>
                <a:cs typeface="Aptos Mono"/>
              </a:rPr>
              <a:t>  admin pages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125">
                <a:solidFill>
                  <a:srgbClr val="182126"/>
                </a:solidFill>
                <a:latin typeface="Aptos Mono"/>
                <a:ea typeface="Aptos Mono"/>
                <a:cs typeface="Aptos Mono"/>
              </a:defRPr>
            </a:pPr>
            <a:r>
              <a:rPr sz="1125">
                <a:solidFill>
                  <a:srgbClr val="182126"/>
                </a:solidFill>
                <a:latin typeface="Aptos Mono"/>
                <a:ea typeface="Aptos Mono"/>
                <a:cs typeface="Aptos Mono"/>
              </a:rPr>
              <a:t>  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FD7386-7E0E-4D3E-80FC-F741AFE56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9927" y="2400300"/>
            <a:ext cx="3002973" cy="3095625"/>
          </a:xfrm>
          <a:prstGeom xmlns:a="http://schemas.openxmlformats.org/drawingml/2006/main" prst="roundRect">
            <a:avLst>
              <a:gd name="adj" fmla="val 5709"/>
            </a:avLst>
          </a:prstGeom>
          <a:solidFill xmlns:a="http://schemas.openxmlformats.org/drawingml/2006/main">
            <a:srgbClr val="24343A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8F7D22-FE27-4F01-9C94-1DE55101C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1377" y="2571750"/>
            <a:ext cx="2660073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Refactor footprint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AA1C05-114F-4A63-8520-066E767B3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1377" y="284988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8C52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90B8BB-95CF-4631-A112-DE0F7E79D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0927" y="2849880"/>
            <a:ext cx="2450523" cy="320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FFFFFF"/>
                </a:solidFill>
                <a:latin typeface="Aptos"/>
                <a:ea typeface="Aptos"/>
                <a:cs typeface="Aptos"/>
              </a:rPr>
              <a:t>Legacy workflows, data sources, and external service modules were retired.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7F92DA-5F09-435E-BE1C-3E52BB2FA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1377" y="326517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8C52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C8713C-86C7-4541-A37D-8C8500BE0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0927" y="3265170"/>
            <a:ext cx="2450523" cy="320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FFFFFF"/>
                </a:solidFill>
                <a:latin typeface="Aptos"/>
                <a:ea typeface="Aptos"/>
                <a:cs typeface="Aptos"/>
              </a:rPr>
              <a:t>Thin compatibility exports were kept for a gentler transition.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E757FAF-E56C-4E34-87D5-ED5A66686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1377" y="368046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8C52"/>
          </a:solidFill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B0BEF63-858E-4E8A-AD6E-E4A820180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0927" y="3680460"/>
            <a:ext cx="2450523" cy="320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FFFFFF"/>
                </a:solidFill>
                <a:latin typeface="Aptos"/>
                <a:ea typeface="Aptos"/>
                <a:cs typeface="Aptos"/>
              </a:rPr>
              <a:t>The active app now hangs off the new layered core.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B600322-DEC3-41DF-8296-3046E5FDE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132070"/>
            <a:ext cx="3683000" cy="868680"/>
          </a:xfrm>
          <a:prstGeom xmlns:a="http://schemas.openxmlformats.org/drawingml/2006/main" prst="roundRect">
            <a:avLst>
              <a:gd name="adj" fmla="val 17544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7D0C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19DAE9D-8C36-4974-9914-00A64AC17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03520"/>
            <a:ext cx="3340100" cy="320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2126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82126"/>
                </a:solidFill>
                <a:latin typeface="Aptos Display"/>
                <a:ea typeface="Aptos Display"/>
                <a:cs typeface="Aptos Display"/>
              </a:rPr>
              <a:t>2005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1DD32C9-B7D3-4C27-855F-3A5FE2D47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80710"/>
            <a:ext cx="3340100" cy="1485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975">
                <a:solidFill>
                  <a:srgbClr val="5F6B73"/>
                </a:solidFill>
                <a:latin typeface="Aptos"/>
                <a:ea typeface="Aptos"/>
                <a:cs typeface="Aptos"/>
              </a:rPr>
              <a:t>lines added in the main refactor commit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5D13BD6-835C-42E5-843D-B0AE1178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4500" y="5132070"/>
            <a:ext cx="3683000" cy="868680"/>
          </a:xfrm>
          <a:prstGeom xmlns:a="http://schemas.openxmlformats.org/drawingml/2006/main" prst="roundRect">
            <a:avLst>
              <a:gd name="adj" fmla="val 17544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7D0C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3D7C14E-0915-481D-B1AC-B20617485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5950" y="5303520"/>
            <a:ext cx="3340100" cy="320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2126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82126"/>
                </a:solidFill>
                <a:latin typeface="Aptos Display"/>
                <a:ea typeface="Aptos Display"/>
                <a:cs typeface="Aptos Display"/>
              </a:rPr>
              <a:t>3387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A6711F2-A1C1-41B3-8B27-FBF46041C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5950" y="5680710"/>
            <a:ext cx="3340100" cy="1485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975">
                <a:solidFill>
                  <a:srgbClr val="5F6B73"/>
                </a:solidFill>
                <a:latin typeface="Aptos"/>
                <a:ea typeface="Aptos"/>
                <a:cs typeface="Aptos"/>
              </a:rPr>
              <a:t>lines removed while deleting legacy paths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5BA1418-5F5A-4218-BE48-49A4470BA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9900" y="5132070"/>
            <a:ext cx="3683000" cy="868680"/>
          </a:xfrm>
          <a:prstGeom xmlns:a="http://schemas.openxmlformats.org/drawingml/2006/main" prst="roundRect">
            <a:avLst>
              <a:gd name="adj" fmla="val 17544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7D0C6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D057D2D-031C-418D-8E7F-1AC8CED05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1350" y="5303520"/>
            <a:ext cx="3340100" cy="320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2126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82126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4FE681E-9D37-43C1-B6B2-95EE73D2E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1350" y="5680710"/>
            <a:ext cx="3340100" cy="1485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975">
                <a:solidFill>
                  <a:srgbClr val="5F6B73"/>
                </a:solidFill>
                <a:latin typeface="Aptos"/>
                <a:ea typeface="Aptos"/>
                <a:cs typeface="Aptos"/>
              </a:rPr>
              <a:t>main architectural buckets added under src/lib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5864E06-FADB-415A-BC76-C14B3AE81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172200"/>
            <a:ext cx="113538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975">
                <a:solidFill>
                  <a:srgbClr val="5F6B73"/>
                </a:solidFill>
                <a:latin typeface="Aptos"/>
                <a:ea typeface="Aptos"/>
                <a:cs typeface="Aptos"/>
              </a:rPr>
              <a:t>The folder story became much easier to explain to a new teammate</a:t>
            </a:r>
          </a:p>
        </p:txBody>
      </p:sp>
    </p:spTree>
    <p:extLst>
      <p:ext uri="{BB962C8B-B14F-4D97-AF65-F5344CB8AC3E}">
        <p14:creationId xmlns:p14="http://schemas.microsoft.com/office/powerpoint/2010/main" val="170152951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769E04B-9474-40F4-9C43-F873BF4C6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7F3EE"/>
              </a:gs>
              <a:gs pos="100000">
                <a:srgbClr val="EFE8DC"/>
              </a:gs>
            </a:gsLst>
            <a:lin ang="10800000"/>
          </a:gra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067E12-E7D1-4C9E-BC6F-F08F6AB96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19100"/>
            <a:ext cx="7565136" cy="1600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A94E2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A94E28"/>
                </a:solidFill>
                <a:latin typeface="Aptos"/>
                <a:ea typeface="Aptos"/>
                <a:cs typeface="Aptos"/>
              </a:rPr>
              <a:t>Finished Application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EBDE84-038C-4B73-8751-B0C2EF47B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74370"/>
            <a:ext cx="7565136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821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82126"/>
                </a:solidFill>
                <a:latin typeface="Aptos Display"/>
                <a:ea typeface="Aptos Display"/>
                <a:cs typeface="Aptos Display"/>
              </a:rPr>
              <a:t>What the refactored system looks like in motion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9DDB07-2AE4-47EF-AB2E-443C3CD3E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12520"/>
            <a:ext cx="7565136" cy="3886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F6B73"/>
                </a:solidFill>
                <a:latin typeface="Aptos"/>
                <a:ea typeface="Aptos"/>
                <a:cs typeface="Aptos"/>
              </a:rPr>
              <a:t>A request still accomplishes the same business job, but the responsibilities are much easier to trace end to end.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99F24E-940C-4411-B2A3-1D6496738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836" y="419100"/>
            <a:ext cx="3560064" cy="17716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24343A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3136EA-A061-4837-9C7C-AD148ED86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4286" y="590550"/>
            <a:ext cx="3217164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Concrete examples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291B92-FB5E-4EA4-B8BE-BECB31358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4286" y="86868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8C52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7C6A45-70F1-4EA7-8FC2-639749B86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3836" y="868680"/>
            <a:ext cx="3007614" cy="320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FFFFFF"/>
                </a:solidFill>
                <a:latin typeface="Aptos"/>
                <a:ea typeface="Aptos"/>
                <a:cs typeface="Aptos"/>
              </a:rPr>
              <a:t>bookingService now coordinates the booking lifecycle cleanly.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D2C2AB-C694-4CF5-B7C2-5E5A1C2C2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4286" y="128397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8C52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32E666-C713-451A-B0E6-A148EA7B7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3836" y="1283970"/>
            <a:ext cx="3007614" cy="320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FFFFFF"/>
                </a:solidFill>
                <a:latin typeface="Aptos"/>
                <a:ea typeface="Aptos"/>
                <a:cs typeface="Aptos"/>
              </a:rPr>
              <a:t>Repositories own Mongo access instead of feature code doing it ad hoc.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AAAFA2-7DCE-4E15-80A3-85A8887FB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4286" y="169926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8C52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F394EE-92D4-4C13-8BED-05DDFCF2B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3836" y="1699260"/>
            <a:ext cx="3007614" cy="320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FFFFFF"/>
                </a:solidFill>
                <a:latin typeface="Aptos"/>
                <a:ea typeface="Aptos"/>
                <a:cs typeface="Aptos"/>
              </a:rPr>
              <a:t>Infrastructure adapters isolate auth, email, media, and bootstrap concerns.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5320ED-C46D-47CE-9F58-B99EAD0AA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19350"/>
            <a:ext cx="7132320" cy="4248150"/>
          </a:xfrm>
          <a:prstGeom xmlns:a="http://schemas.openxmlformats.org/drawingml/2006/main" prst="roundRect">
            <a:avLst>
              <a:gd name="adj" fmla="val 4933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7D0C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809E02-B4BC-4F86-910B-3EE37761A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90800"/>
            <a:ext cx="6789420" cy="643890"/>
          </a:xfrm>
          <a:prstGeom xmlns:a="http://schemas.openxmlformats.org/drawingml/2006/main" prst="roundRect">
            <a:avLst>
              <a:gd name="adj" fmla="val 26627"/>
            </a:avLst>
          </a:prstGeom>
          <a:solidFill xmlns:a="http://schemas.openxmlformats.org/drawingml/2006/main">
            <a:srgbClr val="EDF4FA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9AF37D-CFBB-4352-AABA-EEC071324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24150"/>
            <a:ext cx="652272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4E6FAE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4E6FAE"/>
                </a:solidFill>
                <a:latin typeface="Aptos Display"/>
                <a:ea typeface="Aptos Display"/>
                <a:cs typeface="Aptos Display"/>
              </a:rPr>
              <a:t>1. Routes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08A9C9-11B7-4B32-93B5-B890F6DBE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64180"/>
            <a:ext cx="6522720" cy="137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82126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182126"/>
                </a:solidFill>
                <a:latin typeface="Aptos"/>
                <a:ea typeface="Aptos"/>
                <a:cs typeface="Aptos"/>
              </a:rPr>
              <a:t>Public pages and admin pages receive the request and stay focused on web concerns.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9232EF-DA26-46D6-AEF8-09696D851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6210" y="3234690"/>
            <a:ext cx="381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E6FAE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2FBEA6-9971-41CC-9620-5F9033E17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06140"/>
            <a:ext cx="6789420" cy="643890"/>
          </a:xfrm>
          <a:prstGeom xmlns:a="http://schemas.openxmlformats.org/drawingml/2006/main" prst="roundRect">
            <a:avLst>
              <a:gd name="adj" fmla="val 26627"/>
            </a:avLst>
          </a:prstGeom>
          <a:solidFill xmlns:a="http://schemas.openxmlformats.org/drawingml/2006/main">
            <a:srgbClr val="E3F1EF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EDF77F-5A2A-464C-B804-12B526AD6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39490"/>
            <a:ext cx="652272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C6E73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2C6E73"/>
                </a:solidFill>
                <a:latin typeface="Aptos Display"/>
                <a:ea typeface="Aptos Display"/>
                <a:cs typeface="Aptos Display"/>
              </a:rPr>
              <a:t>2. server/http helpers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C2C8BC-4D3D-4C85-8106-0E3249D87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79520"/>
            <a:ext cx="6522720" cy="137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82126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182126"/>
                </a:solidFill>
                <a:latin typeface="Aptos"/>
                <a:ea typeface="Aptos"/>
                <a:cs typeface="Aptos"/>
              </a:rPr>
              <a:t>Forms, guards, and app-error mapping keep request parsing and authorization consistent.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FF7843-77FE-4671-B25A-7AC6DC5F7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6210" y="4050030"/>
            <a:ext cx="381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6E73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B09020-8E24-4E8E-A873-B98E667AE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21480"/>
            <a:ext cx="6789420" cy="643890"/>
          </a:xfrm>
          <a:prstGeom xmlns:a="http://schemas.openxmlformats.org/drawingml/2006/main" prst="roundRect">
            <a:avLst>
              <a:gd name="adj" fmla="val 26627"/>
            </a:avLst>
          </a:prstGeom>
          <a:solidFill xmlns:a="http://schemas.openxmlformats.org/drawingml/2006/main">
            <a:srgbClr val="E8EEF9"/>
          </a:solidFill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530680-C6F9-432E-840E-EB30C5380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54830"/>
            <a:ext cx="652272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4E6FAE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4E6FAE"/>
                </a:solidFill>
                <a:latin typeface="Aptos Display"/>
                <a:ea typeface="Aptos Display"/>
                <a:cs typeface="Aptos Display"/>
              </a:rPr>
              <a:t>3. Application services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3CAB2F-DCF6-4359-930A-E936D9F35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94860"/>
            <a:ext cx="6522720" cy="137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82126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182126"/>
                </a:solidFill>
                <a:latin typeface="Aptos"/>
                <a:ea typeface="Aptos"/>
                <a:cs typeface="Aptos"/>
              </a:rPr>
              <a:t>Services such as bookingService and ticketService orchestrate use cases without being tied to SvelteKit.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56672C0-64B7-4435-95CF-97B5DAAE5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6210" y="4865370"/>
            <a:ext cx="381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B7F6A"/>
          </a:solidFill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F2001F6-0C11-480C-8EAB-6507CD188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36820"/>
            <a:ext cx="6789420" cy="643890"/>
          </a:xfrm>
          <a:prstGeom xmlns:a="http://schemas.openxmlformats.org/drawingml/2006/main" prst="roundRect">
            <a:avLst>
              <a:gd name="adj" fmla="val 26627"/>
            </a:avLst>
          </a:prstGeom>
          <a:solidFill xmlns:a="http://schemas.openxmlformats.org/drawingml/2006/main">
            <a:srgbClr val="F0ECF9"/>
          </a:solidFill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F9C99E7-B423-459E-9201-2160CCF95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70170"/>
            <a:ext cx="652272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A5AA6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6A5AA6"/>
                </a:solidFill>
                <a:latin typeface="Aptos Display"/>
                <a:ea typeface="Aptos Display"/>
                <a:cs typeface="Aptos Display"/>
              </a:rPr>
              <a:t>4. Domain rules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39798C1-CF4C-455F-B704-0EB1AE545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10200"/>
            <a:ext cx="6522720" cy="137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82126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182126"/>
                </a:solidFill>
                <a:latin typeface="Aptos"/>
                <a:ea typeface="Aptos"/>
                <a:cs typeface="Aptos"/>
              </a:rPr>
              <a:t>Booking, ticket, counter, and user rules live in the domain layer where transitions are easier to review.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B66F783-EFB5-4707-BE43-D42720FB5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6210" y="5680710"/>
            <a:ext cx="381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94E28"/>
          </a:solidFill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B655436-E0C9-481C-AC79-31D6A2B6C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52160"/>
            <a:ext cx="6789420" cy="643890"/>
          </a:xfrm>
          <a:prstGeom xmlns:a="http://schemas.openxmlformats.org/drawingml/2006/main" prst="roundRect">
            <a:avLst>
              <a:gd name="adj" fmla="val 26627"/>
            </a:avLst>
          </a:prstGeom>
          <a:solidFill xmlns:a="http://schemas.openxmlformats.org/drawingml/2006/main">
            <a:srgbClr val="F6F0E8"/>
          </a:solidFill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C9A78AC-ACC9-436D-835B-C84D0975C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85510"/>
            <a:ext cx="652272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A94E28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A94E28"/>
                </a:solidFill>
                <a:latin typeface="Aptos Display"/>
                <a:ea typeface="Aptos Display"/>
                <a:cs typeface="Aptos Display"/>
              </a:rPr>
              <a:t>5. Infrastructure adapters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D1F5851-A1C8-4B8B-897A-4943F5393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25540"/>
            <a:ext cx="6522720" cy="137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82126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182126"/>
                </a:solidFill>
                <a:latin typeface="Aptos"/>
                <a:ea typeface="Aptos"/>
                <a:cs typeface="Aptos"/>
              </a:rPr>
              <a:t>Mongo repositories, auth config, bootstrap, email, QR generation, and media storage handle the outside world.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EA01856-80A1-49FA-88BE-F46E085CB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0970" y="2419350"/>
            <a:ext cx="4011930" cy="2047875"/>
          </a:xfrm>
          <a:prstGeom xmlns:a="http://schemas.openxmlformats.org/drawingml/2006/main" prst="roundRect">
            <a:avLst>
              <a:gd name="adj" fmla="val 8372"/>
            </a:avLst>
          </a:prstGeom>
          <a:solidFill xmlns:a="http://schemas.openxmlformats.org/drawingml/2006/main">
            <a:srgbClr val="F2EEE7"/>
          </a:solidFill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86FC64F-1C7B-475B-80A5-AA8891F71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2420" y="2590800"/>
            <a:ext cx="366903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82126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82126"/>
                </a:solidFill>
                <a:latin typeface="Aptos Display"/>
                <a:ea typeface="Aptos Display"/>
                <a:cs typeface="Aptos Display"/>
              </a:rPr>
              <a:t>Key modules in the finished app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77025B5-6565-451F-B239-661C453C3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2420" y="286893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B7F6A"/>
          </a:solidFill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EC0A4DA-2C70-4223-A811-CC5540BB5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1970" y="2868930"/>
            <a:ext cx="3459480" cy="1600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82126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182126"/>
                </a:solidFill>
                <a:latin typeface="Aptos"/>
                <a:ea typeface="Aptos"/>
                <a:cs typeface="Aptos"/>
              </a:rPr>
              <a:t>src/lib/application/services/bookingService.ts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69EB271-C061-4A92-A3B7-7142377D6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2420" y="31242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B7F6A"/>
          </a:solidFill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7076BEE-02A9-4C05-9367-92917406E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1970" y="3124200"/>
            <a:ext cx="3459480" cy="1600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82126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182126"/>
                </a:solidFill>
                <a:latin typeface="Aptos"/>
                <a:ea typeface="Aptos"/>
                <a:cs typeface="Aptos"/>
              </a:rPr>
              <a:t>src/lib/server/http/services.ts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CDDAA1C-1A9B-4713-966A-A46ADE4B1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2420" y="337947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B7F6A"/>
          </a:solidFill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7E38185-243D-4B1D-9349-DD1530969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1970" y="3379470"/>
            <a:ext cx="3459480" cy="1600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82126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182126"/>
                </a:solidFill>
                <a:latin typeface="Aptos"/>
                <a:ea typeface="Aptos"/>
                <a:cs typeface="Aptos"/>
              </a:rPr>
              <a:t>src/lib/infrastructure/db/mongo/repositories.ts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725D1F7-31C7-4E78-BEAD-7FF362CE5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2420" y="363474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B7F6A"/>
          </a:solidFill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9D0859F-8532-4EB7-8F83-E71E21976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1970" y="3634740"/>
            <a:ext cx="3459480" cy="1600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82126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182126"/>
                </a:solidFill>
                <a:latin typeface="Aptos"/>
                <a:ea typeface="Aptos"/>
                <a:cs typeface="Aptos"/>
              </a:rPr>
              <a:t>src/lib/infrastructure/auth/authConfig.ts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D92FA0F-C917-47E5-BC33-560A8B9BF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0970" y="4619625"/>
            <a:ext cx="4011930" cy="2047875"/>
          </a:xfrm>
          <a:prstGeom xmlns:a="http://schemas.openxmlformats.org/drawingml/2006/main" prst="roundRect">
            <a:avLst>
              <a:gd name="adj" fmla="val 8372"/>
            </a:avLst>
          </a:prstGeom>
          <a:solidFill xmlns:a="http://schemas.openxmlformats.org/drawingml/2006/main">
            <a:srgbClr val="24343A"/>
          </a:solidFill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987999C-F071-4159-B40A-1CF53C808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2420" y="4791075"/>
            <a:ext cx="366903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What this means for future work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63C1AE0-2027-4782-9B2D-8A34ACBE2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2420" y="506920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8C52"/>
          </a:solidFill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435770A-691B-4F4F-96FF-2169151C9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1970" y="5069205"/>
            <a:ext cx="3459480" cy="1600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FFFFFF"/>
                </a:solidFill>
                <a:latin typeface="Aptos"/>
                <a:ea typeface="Aptos"/>
                <a:cs typeface="Aptos"/>
              </a:rPr>
              <a:t>New features have clearer entry points.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A4CCD4B-A0B1-4B49-8BE8-14173DC9F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2420" y="53244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8C52"/>
          </a:solidFill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E666C71-3107-4CB4-981D-EBCE24FC6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1970" y="5324475"/>
            <a:ext cx="3459480" cy="1600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FFFFFF"/>
                </a:solidFill>
                <a:latin typeface="Aptos"/>
                <a:ea typeface="Aptos"/>
                <a:cs typeface="Aptos"/>
              </a:rPr>
              <a:t>Refactors can target one layer at a time.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BD4A4FE-13AE-470C-A96B-7C94E7F97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2420" y="557974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8C52"/>
          </a:solidFill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B464DEB-8C7A-42F0-BCF0-9B4540EEB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1970" y="5579745"/>
            <a:ext cx="3459480" cy="320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FFFFFF"/>
                </a:solidFill>
                <a:latin typeface="Aptos"/>
                <a:ea typeface="Aptos"/>
                <a:cs typeface="Aptos"/>
              </a:rPr>
              <a:t>Local development can move without production dependencies.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EBC0596-251E-4F93-B3DD-DCF611054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172200"/>
            <a:ext cx="113538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975">
                <a:solidFill>
                  <a:srgbClr val="5F6B73"/>
                </a:solidFill>
                <a:latin typeface="Aptos"/>
                <a:ea typeface="Aptos"/>
                <a:cs typeface="Aptos"/>
              </a:rPr>
              <a:t>Finished architecture: a request moves downward through clearer seams</a:t>
            </a:r>
          </a:p>
        </p:txBody>
      </p:sp>
    </p:spTree>
    <p:extLst>
      <p:ext uri="{BB962C8B-B14F-4D97-AF65-F5344CB8AC3E}">
        <p14:creationId xmlns:p14="http://schemas.microsoft.com/office/powerpoint/2010/main" val="155433073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378E537-384F-4A97-8AC8-82091BF4E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7F3EE"/>
              </a:gs>
              <a:gs pos="100000">
                <a:srgbClr val="EFE8DC"/>
              </a:gs>
            </a:gsLst>
            <a:lin ang="10800000"/>
          </a:gra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F61C34-DAB3-4320-A9D8-FE3CA68F0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19100"/>
            <a:ext cx="7565136" cy="1600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A94E2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A94E28"/>
                </a:solidFill>
                <a:latin typeface="Aptos"/>
                <a:ea typeface="Aptos"/>
                <a:cs typeface="Aptos"/>
              </a:rPr>
              <a:t>Outcome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857886-BD91-400A-8E8C-339792CC2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74370"/>
            <a:ext cx="7565136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821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82126"/>
                </a:solidFill>
                <a:latin typeface="Aptos Display"/>
                <a:ea typeface="Aptos Display"/>
                <a:cs typeface="Aptos Display"/>
              </a:rPr>
              <a:t>What we gained from the refactor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192E75-E944-4A2D-9EA7-77EC808E4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12520"/>
            <a:ext cx="7565136" cy="3886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F6B73"/>
                </a:solidFill>
                <a:latin typeface="Aptos"/>
                <a:ea typeface="Aptos"/>
                <a:cs typeface="Aptos"/>
              </a:rPr>
              <a:t>The app is still the same product, but it is now much easier to explain, extend, and operate locally. That is exactly the kind of win that compounds over time.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C865CA-3FFE-4CF3-80B5-FEF68EC1E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836" y="419100"/>
            <a:ext cx="3560064" cy="1451610"/>
          </a:xfrm>
          <a:prstGeom xmlns:a="http://schemas.openxmlformats.org/drawingml/2006/main" prst="roundRect">
            <a:avLst>
              <a:gd name="adj" fmla="val 11811"/>
            </a:avLst>
          </a:prstGeom>
          <a:solidFill xmlns:a="http://schemas.openxmlformats.org/drawingml/2006/main">
            <a:srgbClr val="24343A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66B21A-F3C5-48FD-8034-7D85F8607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4286" y="590550"/>
            <a:ext cx="3217164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Friendly summary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B6FE9E-A189-44DA-AD9C-CEFFAD7EF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4286" y="86868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8C52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6CAA4C-0B89-4ECF-A6E5-A1EA7A58F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3836" y="868680"/>
            <a:ext cx="3007614" cy="1600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FFFFFF"/>
                </a:solidFill>
                <a:latin typeface="Aptos"/>
                <a:ea typeface="Aptos"/>
                <a:cs typeface="Aptos"/>
              </a:rPr>
              <a:t>Better onboarding for new developers.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CF85B6-A1F0-47D2-9FAF-1E2B955C3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4286" y="11239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8C52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890273-7ACA-4915-9FFF-09DFE250C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3836" y="1123950"/>
            <a:ext cx="3007614" cy="1600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FFFFFF"/>
                </a:solidFill>
                <a:latin typeface="Aptos"/>
                <a:ea typeface="Aptos"/>
                <a:cs typeface="Aptos"/>
              </a:rPr>
              <a:t>Better leverage for Codex-assisted feature work.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41D428-4C8D-4973-9C6D-1AAB27619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4286" y="137922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8C52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BE9B1C-E071-47C4-B1E8-FDED5D51C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3836" y="1379220"/>
            <a:ext cx="3007614" cy="320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FFFFFF"/>
                </a:solidFill>
                <a:latin typeface="Aptos"/>
                <a:ea typeface="Aptos"/>
                <a:cs typeface="Aptos"/>
              </a:rPr>
              <a:t>Better confidence when making changes across the stack.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C9368A-CB59-4805-8A9B-DC6380AED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80260"/>
            <a:ext cx="3683000" cy="2842260"/>
          </a:xfrm>
          <a:prstGeom xmlns:a="http://schemas.openxmlformats.org/drawingml/2006/main" prst="roundRect">
            <a:avLst>
              <a:gd name="adj" fmla="val 6032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7D0C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05C2DC-9411-4E02-88B6-E580BEC25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32660"/>
            <a:ext cx="337820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4B7F6A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4B7F6A"/>
                </a:solidFill>
                <a:latin typeface="Aptos Display"/>
                <a:ea typeface="Aptos Display"/>
                <a:cs typeface="Aptos Display"/>
              </a:rPr>
              <a:t>For developers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E54D57-4743-43D5-9D01-3D7208729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91740"/>
            <a:ext cx="3378200" cy="2971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975">
                <a:solidFill>
                  <a:srgbClr val="5F6B73"/>
                </a:solidFill>
                <a:latin typeface="Aptos"/>
                <a:ea typeface="Aptos"/>
                <a:cs typeface="Aptos"/>
              </a:rPr>
              <a:t>The repo now has a more teachable structure and clearer separation of concerns.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175668-7B37-427D-ABE1-CE79A2A7B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65120"/>
            <a:ext cx="3378200" cy="2971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975">
                <a:solidFill>
                  <a:srgbClr val="5F6B73"/>
                </a:solidFill>
                <a:latin typeface="Aptos"/>
                <a:ea typeface="Aptos"/>
                <a:cs typeface="Aptos"/>
              </a:rPr>
              <a:t>It is easier to find the right place for a feature, a bug fix, or a cleanup task.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47A8F5-71A9-4513-A21E-3A9A2635A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4500" y="2080260"/>
            <a:ext cx="3683000" cy="2842260"/>
          </a:xfrm>
          <a:prstGeom xmlns:a="http://schemas.openxmlformats.org/drawingml/2006/main" prst="roundRect">
            <a:avLst>
              <a:gd name="adj" fmla="val 6032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7D0C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4C19A6-7471-4F22-9D67-9D3F38180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900" y="2232660"/>
            <a:ext cx="337820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4E6FAE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4E6FAE"/>
                </a:solidFill>
                <a:latin typeface="Aptos Display"/>
                <a:ea typeface="Aptos Display"/>
                <a:cs typeface="Aptos Display"/>
              </a:rPr>
              <a:t>For delivery speed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4CF837-E744-4814-802B-DF6F9222C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900" y="2491740"/>
            <a:ext cx="3378200" cy="2971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975">
                <a:solidFill>
                  <a:srgbClr val="5F6B73"/>
                </a:solidFill>
                <a:latin typeface="Aptos"/>
                <a:ea typeface="Aptos"/>
                <a:cs typeface="Aptos"/>
              </a:rPr>
              <a:t>Thin routes and explicit services reduce repeated decision-making during implementation.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944A7A-4BB5-418E-9F80-22A8D84BF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900" y="2865120"/>
            <a:ext cx="3378200" cy="2971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975">
                <a:solidFill>
                  <a:srgbClr val="5F6B73"/>
                </a:solidFill>
                <a:latin typeface="Aptos"/>
                <a:ea typeface="Aptos"/>
                <a:cs typeface="Aptos"/>
              </a:rPr>
              <a:t>Ports and adapters make external dependencies less invasive during normal product work.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650A30-2E51-41D1-B979-257C68400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9900" y="2080260"/>
            <a:ext cx="3683000" cy="2842260"/>
          </a:xfrm>
          <a:prstGeom xmlns:a="http://schemas.openxmlformats.org/drawingml/2006/main" prst="roundRect">
            <a:avLst>
              <a:gd name="adj" fmla="val 6032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7D0C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B686DE-A7BC-4AC9-A2B1-B90A9BB27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2300" y="2232660"/>
            <a:ext cx="337820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A94E28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A94E28"/>
                </a:solidFill>
                <a:latin typeface="Aptos Display"/>
                <a:ea typeface="Aptos Display"/>
                <a:cs typeface="Aptos Display"/>
              </a:rPr>
              <a:t>For local development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2317CD-43E0-4FB0-A453-B4A148A5E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2300" y="2491740"/>
            <a:ext cx="3378200" cy="2971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975">
                <a:solidFill>
                  <a:srgbClr val="5F6B73"/>
                </a:solidFill>
                <a:latin typeface="Aptos"/>
                <a:ea typeface="Aptos"/>
                <a:cs typeface="Aptos"/>
              </a:rPr>
              <a:t>Bootstrap, auth, and local Mongo support now make the app easier to run without waiting on shared infrastructure.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C930D8-21EA-4F58-A202-20BD92B56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2300" y="2865120"/>
            <a:ext cx="3378200" cy="1485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975">
                <a:solidFill>
                  <a:srgbClr val="5F6B73"/>
                </a:solidFill>
                <a:latin typeface="Aptos"/>
                <a:ea typeface="Aptos"/>
                <a:cs typeface="Aptos"/>
              </a:rPr>
              <a:t>That shortens the path from idea to working feature.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B7EC689-99B6-4180-A34A-C40F486A8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132070"/>
            <a:ext cx="3683000" cy="868680"/>
          </a:xfrm>
          <a:prstGeom xmlns:a="http://schemas.openxmlformats.org/drawingml/2006/main" prst="roundRect">
            <a:avLst>
              <a:gd name="adj" fmla="val 17544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7D0C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309C3B3-2E08-4E7D-9C71-FE03B86A0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03520"/>
            <a:ext cx="3340100" cy="320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2126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82126"/>
                </a:solidFill>
                <a:latin typeface="Aptos Display"/>
                <a:ea typeface="Aptos Display"/>
                <a:cs typeface="Aptos Display"/>
              </a:rPr>
              <a:t>200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E8C1D08-4DBF-4896-AB92-96D4F434B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80710"/>
            <a:ext cx="3340100" cy="1485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975">
                <a:solidFill>
                  <a:srgbClr val="5F6B73"/>
                </a:solidFill>
                <a:latin typeface="Aptos"/>
                <a:ea typeface="Aptos"/>
                <a:cs typeface="Aptos"/>
              </a:rPr>
              <a:t>HTTP on the home page after the local setup fixes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F35184E-0276-4C40-AB23-954C11DB3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4500" y="5132070"/>
            <a:ext cx="3683000" cy="868680"/>
          </a:xfrm>
          <a:prstGeom xmlns:a="http://schemas.openxmlformats.org/drawingml/2006/main" prst="roundRect">
            <a:avLst>
              <a:gd name="adj" fmla="val 17544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7D0C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750460-5A59-44A2-89DC-BB6A6A66E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5950" y="5303520"/>
            <a:ext cx="3340100" cy="320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2126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82126"/>
                </a:solidFill>
                <a:latin typeface="Aptos Display"/>
                <a:ea typeface="Aptos Display"/>
                <a:cs typeface="Aptos Display"/>
              </a:rPr>
              <a:t>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169CF47-3C93-40DE-804D-DFE4D7536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5950" y="5680710"/>
            <a:ext cx="3340100" cy="1485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975">
                <a:solidFill>
                  <a:srgbClr val="5F6B73"/>
                </a:solidFill>
                <a:latin typeface="Aptos"/>
                <a:ea typeface="Aptos"/>
                <a:cs typeface="Aptos"/>
              </a:rPr>
              <a:t>Svelte check errors after the refactor pass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B40E7B5-F3C1-4B98-BA68-2D40479E4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9900" y="5132070"/>
            <a:ext cx="3683000" cy="868680"/>
          </a:xfrm>
          <a:prstGeom xmlns:a="http://schemas.openxmlformats.org/drawingml/2006/main" prst="roundRect">
            <a:avLst>
              <a:gd name="adj" fmla="val 17544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7D0C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F6E7226-237D-4536-B39F-C3767D364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1350" y="5303520"/>
            <a:ext cx="3340100" cy="320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2126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82126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F306DAE-D16B-4A3F-A748-89CD5B38A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1350" y="5680710"/>
            <a:ext cx="3340100" cy="1485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975">
                <a:solidFill>
                  <a:srgbClr val="5F6B73"/>
                </a:solidFill>
                <a:latin typeface="Aptos"/>
                <a:ea typeface="Aptos"/>
                <a:cs typeface="Aptos"/>
              </a:rPr>
              <a:t>clearer story to tell the next teammate who opens the repo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BC46FFD-20BE-4AF2-998C-757989A2C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172200"/>
            <a:ext cx="113538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975">
                <a:solidFill>
                  <a:srgbClr val="5F6B73"/>
                </a:solidFill>
                <a:latin typeface="Aptos"/>
                <a:ea typeface="Aptos"/>
                <a:cs typeface="Aptos"/>
              </a:rPr>
              <a:t>The refactor is done, and the repo is in a much friendlier place for the next round of work</a:t>
            </a:r>
          </a:p>
        </p:txBody>
      </p:sp>
    </p:spTree>
    <p:extLst>
      <p:ext uri="{BB962C8B-B14F-4D97-AF65-F5344CB8AC3E}">
        <p14:creationId xmlns:p14="http://schemas.microsoft.com/office/powerpoint/2010/main" val="18811813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2026-05-03T16:46:31.2210000Z</dcterms:created>
  <dcterms:modified xsi:type="dcterms:W3CDTF">2026-05-03T16:46:31.2210000Z</dcterms:modified>
</coreProperties>
</file>